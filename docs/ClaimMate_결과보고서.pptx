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6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56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ClaimMate 프로젝트 완료 보고서입니다. 3인 팀으로 4일간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소비자는 자기 사안이 구제 대상인지, 얼마를 돌려받을 수 있는지 알기 어렵습니다. ClaimMate는 그 판단을 한 화면에서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팀이 풀스택, 데이터/ML, LLM 에이전트로 영역을 나눠 병행 개발했습니다.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4일 일정입니다. 첫 이틀에 데이터와 모델을, 후반 이틀에 RAG와 Rerank, 문서화를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프로세스입니다. 각 단계마다 적용 기술을 함께 표기했습니다.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입력에서 리포트까지 4단계입니다. ML은 Python 서버리스 함수, RAG와 LLM은 Node 런타임에서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CSV에는 카테고리 라벨이 없어 키워드 매칭으로 라벨을 부여했고, 표본이 희소한 카테고리는 수작성 사례로 보강했습니다.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형태소 분석기 대신 문자 n-gram TF-IDF를 써서 조사 변화에 강건하면서 서버리스에 가볍게 올렸습니다.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42개 조항 청크를 미리 임베딩해 두고, 코사인 유사도에 카테고리·키워드 가중치를 더한 하이브리드 검색으로 Top-2를 뽑습니다.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공공데이터 표본이 부족해 ML 성공률이 부당하게 낮게 나오는 경우를 법령 근거로 상향 보정합니다. 하향은 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분류 성능은 Accuracy와 F1으로, 에이전트 출력은 재현성과 폴백 안정성으로 평가했습니다.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프론트엔드부터 배포까지 사용한 기술을 영역별로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서비스 화면입니다. 자유 서술 입력과 금액·일자·품목만으로 분석을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화면은 성공률 게이지, 인용 법령, 예상 환급 범위, 내용증명 초안으로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한계와 향후 과제, 그리고 팀이 느낀 점으로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17.png"/><Relationship Id="rId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17.png"/><Relationship Id="rId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4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17.png"/><Relationship Id="rId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46122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D3A8F"/>
          </a:solidFill>
          <a:ln/>
        </p:spPr>
      </p:sp>
      <p:sp>
        <p:nvSpPr>
          <p:cNvPr id="3" name="Text 1"/>
          <p:cNvSpPr/>
          <p:nvPr/>
        </p:nvSpPr>
        <p:spPr>
          <a:xfrm>
            <a:off x="1314450" y="2350095"/>
            <a:ext cx="4670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COMPLETION REPORT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124795"/>
            <a:ext cx="1246822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136"/>
              </a:lnSpc>
              <a:buNone/>
            </a:pPr>
            <a:r>
              <a:rPr lang="en-US" sz="8400" b="1" kern="0" spc="-252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047750" y="4420195"/>
            <a:ext cx="12468225" cy="58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75"/>
              </a:lnSpc>
              <a:buNone/>
            </a:pPr>
            <a:r>
              <a:rPr lang="en-US" sz="3300" b="1" kern="0" spc="-66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소비자 피해구제 분석 에이전트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5498406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22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기반 통계 추론과 법령 RAG · LLM 추론을 결합한 하이브리드 파이프라인 풀스택 웹 애플리케이션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7098606"/>
            <a:ext cx="328731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A8AF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7524056"/>
            <a:ext cx="32873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박홍민 · 정윤용 · 김수현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569619" y="7098606"/>
            <a:ext cx="409091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A8AF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DEPLOY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9619" y="7524056"/>
            <a:ext cx="409091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claim-mate-five.vercel.app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382500" y="0"/>
            <a:ext cx="5905500" cy="10287000"/>
          </a:xfrm>
          <a:prstGeom prst="rect">
            <a:avLst/>
          </a:prstGeom>
          <a:solidFill>
            <a:srgbClr val="F7F8F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0" y="3143250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71749" y="587375"/>
            <a:ext cx="14585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615"/>
              </a:lnSpc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및 추진 배경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49525"/>
            <a:ext cx="127539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상담 서술문을 입력받아 분쟁 유형 분류 · 구제 성공 확률 · 법적 근거 · 내용증명 초안까지 한 번에 제공하는 AI 에이전트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997325"/>
            <a:ext cx="5283200" cy="2628106"/>
          </a:xfrm>
          <a:prstGeom prst="roundRect">
            <a:avLst>
              <a:gd name="adj" fmla="val 5799"/>
            </a:avLst>
          </a:prstGeom>
          <a:solidFill>
            <a:srgbClr val="F7F8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6350" y="4340225"/>
            <a:ext cx="419100" cy="4191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6350" y="4930775"/>
            <a:ext cx="50990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내용은 비정형 텍스트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1276350" y="5514975"/>
            <a:ext cx="4774565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46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사안마다 서술 방식이 달라 유형 분류와 선례 대조가 사람 손을 거쳐야 했다.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6502400" y="3997325"/>
            <a:ext cx="5283200" cy="2628106"/>
          </a:xfrm>
          <a:prstGeom prst="roundRect">
            <a:avLst>
              <a:gd name="adj" fmla="val 5799"/>
            </a:avLst>
          </a:prstGeom>
          <a:solidFill>
            <a:srgbClr val="F7F8F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6250" y="4340225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6250" y="4930775"/>
            <a:ext cx="50990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법령 근거 확인의 장벽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6826250" y="5514975"/>
            <a:ext cx="4774565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46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소비자분쟁해결기준의 어느 조항이 자기 사안에 적용되는지 일반 소비자가 찾기 어렵다.</a:t>
            </a:r>
            <a:endParaRPr lang="en-US" sz="1950" dirty="0"/>
          </a:p>
        </p:txBody>
      </p:sp>
      <p:sp>
        <p:nvSpPr>
          <p:cNvPr id="18" name="Shape 13"/>
          <p:cNvSpPr/>
          <p:nvPr/>
        </p:nvSpPr>
        <p:spPr>
          <a:xfrm>
            <a:off x="12052300" y="3997325"/>
            <a:ext cx="5283200" cy="2628106"/>
          </a:xfrm>
          <a:prstGeom prst="roundRect">
            <a:avLst>
              <a:gd name="adj" fmla="val 5799"/>
            </a:avLst>
          </a:prstGeom>
          <a:solidFill>
            <a:srgbClr val="F7F8F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76150" y="4340225"/>
            <a:ext cx="419100" cy="4191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76150" y="4930775"/>
            <a:ext cx="50990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문서 작성 부담</a:t>
            </a:r>
            <a:endParaRPr lang="en-US" sz="2250" dirty="0"/>
          </a:p>
        </p:txBody>
      </p:sp>
      <p:sp>
        <p:nvSpPr>
          <p:cNvPr id="21" name="Text 15"/>
          <p:cNvSpPr/>
          <p:nvPr/>
        </p:nvSpPr>
        <p:spPr>
          <a:xfrm>
            <a:off x="12376150" y="5514975"/>
            <a:ext cx="4774565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46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환급 요구를 공식화하는 내용증명을 처음 쓰는 소비자에게는 진입장벽이 크다.</a:t>
            </a:r>
            <a:endParaRPr lang="en-US" sz="1950" dirty="0"/>
          </a:p>
        </p:txBody>
      </p:sp>
      <p:sp>
        <p:nvSpPr>
          <p:cNvPr id="22" name="Shape 16"/>
          <p:cNvSpPr/>
          <p:nvPr/>
        </p:nvSpPr>
        <p:spPr>
          <a:xfrm>
            <a:off x="952500" y="7082632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3" name="Text 17"/>
          <p:cNvSpPr/>
          <p:nvPr/>
        </p:nvSpPr>
        <p:spPr>
          <a:xfrm>
            <a:off x="952500" y="7431881"/>
            <a:ext cx="45053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425건</a:t>
            </a:r>
            <a:endParaRPr lang="en-US" sz="3900" dirty="0"/>
          </a:p>
        </p:txBody>
      </p:sp>
      <p:sp>
        <p:nvSpPr>
          <p:cNvPr id="24" name="Text 18"/>
          <p:cNvSpPr/>
          <p:nvPr/>
        </p:nvSpPr>
        <p:spPr>
          <a:xfrm>
            <a:off x="952500" y="8098631"/>
            <a:ext cx="45053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공정위 공공데이터 정제 사례</a:t>
            </a:r>
            <a:endParaRPr lang="en-US" sz="1950" dirty="0"/>
          </a:p>
        </p:txBody>
      </p:sp>
      <p:sp>
        <p:nvSpPr>
          <p:cNvPr id="25" name="Text 19"/>
          <p:cNvSpPr/>
          <p:nvPr/>
        </p:nvSpPr>
        <p:spPr>
          <a:xfrm>
            <a:off x="5048250" y="7431881"/>
            <a:ext cx="45053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42개</a:t>
            </a:r>
            <a:endParaRPr lang="en-US" sz="3900" dirty="0"/>
          </a:p>
        </p:txBody>
      </p:sp>
      <p:sp>
        <p:nvSpPr>
          <p:cNvPr id="26" name="Text 20"/>
          <p:cNvSpPr/>
          <p:nvPr/>
        </p:nvSpPr>
        <p:spPr>
          <a:xfrm>
            <a:off x="5048250" y="8098631"/>
            <a:ext cx="45053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법령 조항 청크</a:t>
            </a:r>
            <a:endParaRPr lang="en-US" sz="1950" dirty="0"/>
          </a:p>
        </p:txBody>
      </p:sp>
      <p:sp>
        <p:nvSpPr>
          <p:cNvPr id="27" name="Text 21"/>
          <p:cNvSpPr/>
          <p:nvPr/>
        </p:nvSpPr>
        <p:spPr>
          <a:xfrm>
            <a:off x="9144000" y="7431881"/>
            <a:ext cx="45053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</a:t>
            </a:r>
            <a:endParaRPr lang="en-US" sz="3900" dirty="0"/>
          </a:p>
        </p:txBody>
      </p:sp>
      <p:sp>
        <p:nvSpPr>
          <p:cNvPr id="28" name="Text 22"/>
          <p:cNvSpPr/>
          <p:nvPr/>
        </p:nvSpPr>
        <p:spPr>
          <a:xfrm>
            <a:off x="9144000" y="8098631"/>
            <a:ext cx="45053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품목 카테고리</a:t>
            </a:r>
            <a:endParaRPr lang="en-US" sz="1950" dirty="0"/>
          </a:p>
        </p:txBody>
      </p:sp>
      <p:sp>
        <p:nvSpPr>
          <p:cNvPr id="29" name="Text 23"/>
          <p:cNvSpPr/>
          <p:nvPr/>
        </p:nvSpPr>
        <p:spPr>
          <a:xfrm>
            <a:off x="13239750" y="7431881"/>
            <a:ext cx="45053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4일</a:t>
            </a:r>
            <a:endParaRPr lang="en-US" sz="3900" dirty="0"/>
          </a:p>
        </p:txBody>
      </p:sp>
      <p:sp>
        <p:nvSpPr>
          <p:cNvPr id="30" name="Text 24"/>
          <p:cNvSpPr/>
          <p:nvPr/>
        </p:nvSpPr>
        <p:spPr>
          <a:xfrm>
            <a:off x="13239750" y="8098631"/>
            <a:ext cx="45053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기획부터 배포까지 개발 기간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18097" y="587375"/>
            <a:ext cx="125581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및 역할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구성과 담당 역할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3인 · 각자 파이프라인의 한 구간을 끝까지 책임지는 수직 분담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92500"/>
            <a:ext cx="5283200" cy="6175375"/>
          </a:xfrm>
          <a:prstGeom prst="roundRect">
            <a:avLst>
              <a:gd name="adj" fmla="val 32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82700" y="395287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1D3A8F"/>
          </a:solidFill>
          <a:ln/>
        </p:spPr>
      </p:sp>
      <p:sp>
        <p:nvSpPr>
          <p:cNvPr id="12" name="Text 9"/>
          <p:cNvSpPr/>
          <p:nvPr/>
        </p:nvSpPr>
        <p:spPr>
          <a:xfrm>
            <a:off x="1244600" y="39528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063750" y="3879850"/>
            <a:ext cx="23584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박홍민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2063750" y="4305300"/>
            <a:ext cx="23584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Fullstack / PM Lead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82700" y="4902200"/>
            <a:ext cx="508508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풀스택 웹 애플리케이션 &amp; 배포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282700" y="5480050"/>
            <a:ext cx="476148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14 App Router 기반 UI/UX 설계 및 프론트엔드 컴포넌트 개발 (DisputeForm, ResultReport, StatCharts)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282700" y="674687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Recharts 기반 공공데이터 시각화 및 원클릭 내용증명 복사 모달 구현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82700" y="764222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 Handlers ↔ Python Serverless Function 통신 파이프라인 연동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282700" y="853757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배포 자동화, 일정 관리 및 최종 보고서 총괄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6502400" y="3492500"/>
            <a:ext cx="5283200" cy="6175375"/>
          </a:xfrm>
          <a:prstGeom prst="roundRect">
            <a:avLst>
              <a:gd name="adj" fmla="val 32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32600" y="395287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0F9D76"/>
          </a:solidFill>
          <a:ln/>
        </p:spPr>
      </p:sp>
      <p:sp>
        <p:nvSpPr>
          <p:cNvPr id="22" name="Text 19"/>
          <p:cNvSpPr/>
          <p:nvPr/>
        </p:nvSpPr>
        <p:spPr>
          <a:xfrm>
            <a:off x="6794500" y="39528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7613650" y="3879850"/>
            <a:ext cx="2270562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정윤용</a:t>
            </a:r>
            <a:endParaRPr lang="en-US" sz="2550" dirty="0"/>
          </a:p>
        </p:txBody>
      </p:sp>
      <p:sp>
        <p:nvSpPr>
          <p:cNvPr id="24" name="Text 21"/>
          <p:cNvSpPr/>
          <p:nvPr/>
        </p:nvSpPr>
        <p:spPr>
          <a:xfrm>
            <a:off x="7613650" y="4305300"/>
            <a:ext cx="227056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/ Data Lead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32600" y="4902200"/>
            <a:ext cx="508508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엔지니어링 &amp; ML 모델링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6832600" y="5480050"/>
            <a:ext cx="50850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공정위 · 소비자원 공공데이터 수집 및 EDA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6832600" y="600392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cleaner.py — Pandas/NumPy 기반 PII 마스킹, 결측치 정제, 텍스트 파생변수 생성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6832600" y="689927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predictor.py — char n-gram TF-IDF, 다중 분류, KMeans 군집화, 유사사례 매칭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6832600" y="779462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평가(Accuracy, F1) 및 joblib 캐싱 최적화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2052300" y="3492500"/>
            <a:ext cx="5283200" cy="6175375"/>
          </a:xfrm>
          <a:prstGeom prst="roundRect">
            <a:avLst>
              <a:gd name="adj" fmla="val 32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382500" y="395287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3D4757"/>
          </a:solidFill>
          <a:ln/>
        </p:spPr>
      </p:sp>
      <p:sp>
        <p:nvSpPr>
          <p:cNvPr id="32" name="Text 29"/>
          <p:cNvSpPr/>
          <p:nvPr/>
        </p:nvSpPr>
        <p:spPr>
          <a:xfrm>
            <a:off x="12344400" y="39528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13163550" y="3879850"/>
            <a:ext cx="1670506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김수현</a:t>
            </a:r>
            <a:endParaRPr lang="en-US" sz="2550" dirty="0"/>
          </a:p>
        </p:txBody>
      </p:sp>
      <p:sp>
        <p:nvSpPr>
          <p:cNvPr id="34" name="Text 31"/>
          <p:cNvSpPr/>
          <p:nvPr/>
        </p:nvSpPr>
        <p:spPr>
          <a:xfrm>
            <a:off x="13163550" y="4305300"/>
            <a:ext cx="167050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 Lead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2382500" y="4902200"/>
            <a:ext cx="508508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Agent &amp; RAG 시스템 구축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2382500" y="5480050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품목별 소비자분쟁해결기준 지식베이스 구축 및 임베딩 파이프라인 설계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12382500" y="6375400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legalSearch.ts — 코사인 유사도 기반 경량 RAG 검색 엔진 구현</a:t>
            </a:r>
            <a:endParaRPr lang="en-US" sz="1950" dirty="0"/>
          </a:p>
        </p:txBody>
      </p:sp>
      <p:sp>
        <p:nvSpPr>
          <p:cNvPr id="38" name="Text 35"/>
          <p:cNvSpPr/>
          <p:nvPr/>
        </p:nvSpPr>
        <p:spPr>
          <a:xfrm>
            <a:off x="12382500" y="7270750"/>
            <a:ext cx="476148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gpt-4o-mini Structured JSON Output 프롬프트 엔지니어링 (법적 근거 · 환급금 산정 · 내용증명 초안)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12382500" y="8537575"/>
            <a:ext cx="47614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 및 법령 기반 구제 성공 확률 보정 로직 구현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92437" y="587375"/>
            <a:ext cx="98147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일정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일정 (Gantt)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4일 · 데이터 → 모델 → 에이전트 순으로 진행하되 프론트엔드와 배포는 상시 병행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953000" y="3454400"/>
            <a:ext cx="340518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AF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8625" y="3454400"/>
            <a:ext cx="340518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AF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144250" y="3454400"/>
            <a:ext cx="340518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AF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239875" y="3454400"/>
            <a:ext cx="340518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AF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2500" y="394970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 · 공공데이터 수집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4953000" y="391795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16" name="Shape 13"/>
          <p:cNvSpPr/>
          <p:nvPr/>
        </p:nvSpPr>
        <p:spPr>
          <a:xfrm>
            <a:off x="4953000" y="3917950"/>
            <a:ext cx="3267075" cy="419100"/>
          </a:xfrm>
          <a:prstGeom prst="roundRect">
            <a:avLst>
              <a:gd name="adj" fmla="val 18182"/>
            </a:avLst>
          </a:prstGeom>
          <a:solidFill>
            <a:srgbClr val="0F9D76"/>
          </a:solidFill>
          <a:ln/>
        </p:spPr>
      </p:sp>
      <p:sp>
        <p:nvSpPr>
          <p:cNvPr id="17" name="Text 14"/>
          <p:cNvSpPr/>
          <p:nvPr/>
        </p:nvSpPr>
        <p:spPr>
          <a:xfrm>
            <a:off x="5124450" y="3917950"/>
            <a:ext cx="319363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정윤용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52500" y="450215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· 케이스뱅크 구축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4953000" y="447040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20" name="Shape 17"/>
          <p:cNvSpPr/>
          <p:nvPr/>
        </p:nvSpPr>
        <p:spPr>
          <a:xfrm>
            <a:off x="6500813" y="4470400"/>
            <a:ext cx="3267075" cy="419100"/>
          </a:xfrm>
          <a:prstGeom prst="roundRect">
            <a:avLst>
              <a:gd name="adj" fmla="val 18182"/>
            </a:avLst>
          </a:prstGeom>
          <a:solidFill>
            <a:srgbClr val="0F9D76"/>
          </a:solidFill>
          <a:ln/>
        </p:spPr>
      </p:sp>
      <p:sp>
        <p:nvSpPr>
          <p:cNvPr id="21" name="Text 18"/>
          <p:cNvSpPr/>
          <p:nvPr/>
        </p:nvSpPr>
        <p:spPr>
          <a:xfrm>
            <a:off x="6672263" y="4470400"/>
            <a:ext cx="319363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정윤용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52500" y="505460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분류 · 유사사례 검색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4953000" y="502285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24" name="Shape 21"/>
          <p:cNvSpPr/>
          <p:nvPr/>
        </p:nvSpPr>
        <p:spPr>
          <a:xfrm>
            <a:off x="8048625" y="5022850"/>
            <a:ext cx="4040981" cy="419100"/>
          </a:xfrm>
          <a:prstGeom prst="roundRect">
            <a:avLst>
              <a:gd name="adj" fmla="val 18182"/>
            </a:avLst>
          </a:prstGeom>
          <a:solidFill>
            <a:srgbClr val="0F9D76"/>
          </a:solidFill>
          <a:ln/>
        </p:spPr>
      </p:sp>
      <p:sp>
        <p:nvSpPr>
          <p:cNvPr id="25" name="Text 22"/>
          <p:cNvSpPr/>
          <p:nvPr/>
        </p:nvSpPr>
        <p:spPr>
          <a:xfrm>
            <a:off x="8220075" y="5022850"/>
            <a:ext cx="39907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정윤용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52500" y="560705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UI/UX · 시각화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4953000" y="557530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28" name="Shape 25"/>
          <p:cNvSpPr/>
          <p:nvPr/>
        </p:nvSpPr>
        <p:spPr>
          <a:xfrm>
            <a:off x="6500813" y="5575300"/>
            <a:ext cx="7910512" cy="419100"/>
          </a:xfrm>
          <a:prstGeom prst="roundRect">
            <a:avLst>
              <a:gd name="adj" fmla="val 18182"/>
            </a:avLst>
          </a:prstGeom>
          <a:solidFill>
            <a:srgbClr val="1D3A8F"/>
          </a:solidFill>
          <a:ln/>
        </p:spPr>
      </p:sp>
      <p:sp>
        <p:nvSpPr>
          <p:cNvPr id="29" name="Text 26"/>
          <p:cNvSpPr/>
          <p:nvPr/>
        </p:nvSpPr>
        <p:spPr>
          <a:xfrm>
            <a:off x="6672263" y="5575300"/>
            <a:ext cx="797637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박홍민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52500" y="615950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배포 · 런타임 충돌 수정</a:t>
            </a:r>
            <a:endParaRPr lang="en-US" sz="1950" dirty="0"/>
          </a:p>
        </p:txBody>
      </p:sp>
      <p:sp>
        <p:nvSpPr>
          <p:cNvPr id="31" name="Shape 28"/>
          <p:cNvSpPr/>
          <p:nvPr/>
        </p:nvSpPr>
        <p:spPr>
          <a:xfrm>
            <a:off x="4953000" y="612775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32" name="Shape 29"/>
          <p:cNvSpPr/>
          <p:nvPr/>
        </p:nvSpPr>
        <p:spPr>
          <a:xfrm>
            <a:off x="9596438" y="6127750"/>
            <a:ext cx="3267075" cy="419100"/>
          </a:xfrm>
          <a:prstGeom prst="roundRect">
            <a:avLst>
              <a:gd name="adj" fmla="val 18182"/>
            </a:avLst>
          </a:prstGeom>
          <a:solidFill>
            <a:srgbClr val="1D3A8F"/>
          </a:solidFill>
          <a:ln/>
        </p:spPr>
      </p:sp>
      <p:sp>
        <p:nvSpPr>
          <p:cNvPr id="33" name="Text 30"/>
          <p:cNvSpPr/>
          <p:nvPr/>
        </p:nvSpPr>
        <p:spPr>
          <a:xfrm>
            <a:off x="9767888" y="6127750"/>
            <a:ext cx="319363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박홍민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52500" y="671195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법령 검색 엔진 구축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4953000" y="668020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36" name="Shape 33"/>
          <p:cNvSpPr/>
          <p:nvPr/>
        </p:nvSpPr>
        <p:spPr>
          <a:xfrm>
            <a:off x="11144250" y="6680200"/>
            <a:ext cx="4040981" cy="419100"/>
          </a:xfrm>
          <a:prstGeom prst="roundRect">
            <a:avLst>
              <a:gd name="adj" fmla="val 18182"/>
            </a:avLst>
          </a:prstGeom>
          <a:solidFill>
            <a:srgbClr val="3D4757"/>
          </a:solidFill>
          <a:ln/>
        </p:spPr>
      </p:sp>
      <p:sp>
        <p:nvSpPr>
          <p:cNvPr id="37" name="Text 34"/>
          <p:cNvSpPr/>
          <p:nvPr/>
        </p:nvSpPr>
        <p:spPr>
          <a:xfrm>
            <a:off x="11315700" y="6680200"/>
            <a:ext cx="39907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김수현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52500" y="726440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 · 프롬프트 튜닝</a:t>
            </a:r>
            <a:endParaRPr lang="en-US" sz="1950" dirty="0"/>
          </a:p>
        </p:txBody>
      </p:sp>
      <p:sp>
        <p:nvSpPr>
          <p:cNvPr id="39" name="Shape 36"/>
          <p:cNvSpPr/>
          <p:nvPr/>
        </p:nvSpPr>
        <p:spPr>
          <a:xfrm>
            <a:off x="4953000" y="723265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40" name="Shape 37"/>
          <p:cNvSpPr/>
          <p:nvPr/>
        </p:nvSpPr>
        <p:spPr>
          <a:xfrm>
            <a:off x="12692063" y="7232650"/>
            <a:ext cx="4814888" cy="419100"/>
          </a:xfrm>
          <a:prstGeom prst="roundRect">
            <a:avLst>
              <a:gd name="adj" fmla="val 18182"/>
            </a:avLst>
          </a:prstGeom>
          <a:solidFill>
            <a:srgbClr val="3D4757"/>
          </a:solidFill>
          <a:ln/>
        </p:spPr>
      </p:sp>
      <p:sp>
        <p:nvSpPr>
          <p:cNvPr id="41" name="Text 38"/>
          <p:cNvSpPr/>
          <p:nvPr/>
        </p:nvSpPr>
        <p:spPr>
          <a:xfrm>
            <a:off x="12863513" y="7232650"/>
            <a:ext cx="47878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김수현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952500" y="7816850"/>
            <a:ext cx="44005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· 최종 보고서</a:t>
            </a:r>
            <a:endParaRPr lang="en-US" sz="1950" dirty="0"/>
          </a:p>
        </p:txBody>
      </p:sp>
      <p:sp>
        <p:nvSpPr>
          <p:cNvPr id="43" name="Shape 40"/>
          <p:cNvSpPr/>
          <p:nvPr/>
        </p:nvSpPr>
        <p:spPr>
          <a:xfrm>
            <a:off x="4953000" y="7785100"/>
            <a:ext cx="12382500" cy="419100"/>
          </a:xfrm>
          <a:prstGeom prst="roundRect">
            <a:avLst>
              <a:gd name="adj" fmla="val 18182"/>
            </a:avLst>
          </a:prstGeom>
          <a:solidFill>
            <a:srgbClr val="F7F8FB"/>
          </a:solidFill>
          <a:ln/>
        </p:spPr>
      </p:sp>
      <p:sp>
        <p:nvSpPr>
          <p:cNvPr id="44" name="Shape 41"/>
          <p:cNvSpPr/>
          <p:nvPr/>
        </p:nvSpPr>
        <p:spPr>
          <a:xfrm>
            <a:off x="14239875" y="7785100"/>
            <a:ext cx="3267075" cy="419100"/>
          </a:xfrm>
          <a:prstGeom prst="roundRect">
            <a:avLst>
              <a:gd name="adj" fmla="val 18182"/>
            </a:avLst>
          </a:prstGeom>
          <a:solidFill>
            <a:srgbClr val="A8AFBD"/>
          </a:solidFill>
          <a:ln/>
        </p:spPr>
      </p:sp>
      <p:sp>
        <p:nvSpPr>
          <p:cNvPr id="45" name="Text 42"/>
          <p:cNvSpPr/>
          <p:nvPr/>
        </p:nvSpPr>
        <p:spPr>
          <a:xfrm>
            <a:off x="14411325" y="7785100"/>
            <a:ext cx="319363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전원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71749" y="587375"/>
            <a:ext cx="14585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프로세스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방법론과 적용 기술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산출물을 즉시 배포·검증하고 다음 단계로 넘기는 반복형(iterative) 진행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530600"/>
            <a:ext cx="2693591" cy="3654425"/>
          </a:xfrm>
          <a:prstGeom prst="roundRect">
            <a:avLst>
              <a:gd name="adj" fmla="val 5658"/>
            </a:avLst>
          </a:prstGeom>
          <a:solidFill>
            <a:srgbClr val="F7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952500" y="3530600"/>
            <a:ext cx="2693591" cy="38100"/>
          </a:xfrm>
          <a:prstGeom prst="rect">
            <a:avLst/>
          </a:prstGeom>
          <a:solidFill>
            <a:srgbClr val="0F9D76"/>
          </a:solidFill>
          <a:ln/>
        </p:spPr>
      </p:sp>
      <p:sp>
        <p:nvSpPr>
          <p:cNvPr id="12" name="Text 9"/>
          <p:cNvSpPr/>
          <p:nvPr/>
        </p:nvSpPr>
        <p:spPr>
          <a:xfrm>
            <a:off x="1200150" y="3873500"/>
            <a:ext cx="24181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00150" y="4337050"/>
            <a:ext cx="24181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00150" y="4908550"/>
            <a:ext cx="227449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공정위 모범상담 사례 CSV 565건 확보 · EDA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200150" y="6170613"/>
            <a:ext cx="2418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 · NumPy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5166" y="5214938"/>
            <a:ext cx="285750" cy="2857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369991" y="3530600"/>
            <a:ext cx="2713038" cy="3654425"/>
          </a:xfrm>
          <a:prstGeom prst="roundRect">
            <a:avLst>
              <a:gd name="adj" fmla="val 5617"/>
            </a:avLst>
          </a:prstGeom>
          <a:solidFill>
            <a:srgbClr val="F7F8FB"/>
          </a:solidFill>
          <a:ln/>
        </p:spPr>
      </p:sp>
      <p:sp>
        <p:nvSpPr>
          <p:cNvPr id="18" name="Shape 14"/>
          <p:cNvSpPr/>
          <p:nvPr/>
        </p:nvSpPr>
        <p:spPr>
          <a:xfrm>
            <a:off x="4369991" y="3530600"/>
            <a:ext cx="2713038" cy="38100"/>
          </a:xfrm>
          <a:prstGeom prst="rect">
            <a:avLst/>
          </a:prstGeom>
          <a:solidFill>
            <a:srgbClr val="0F9D76"/>
          </a:solidFill>
          <a:ln/>
        </p:spPr>
      </p:sp>
      <p:sp>
        <p:nvSpPr>
          <p:cNvPr id="19" name="Text 15"/>
          <p:cNvSpPr/>
          <p:nvPr/>
        </p:nvSpPr>
        <p:spPr>
          <a:xfrm>
            <a:off x="4617641" y="3873500"/>
            <a:ext cx="243951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617641" y="4337050"/>
            <a:ext cx="243951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· 라벨링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4617641" y="4908550"/>
            <a:ext cx="2293938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PII 마스킹 · 노이즈 제거 · 14개 카테고리 배정</a:t>
            </a:r>
            <a:endParaRPr lang="en-US" sz="1875" dirty="0"/>
          </a:p>
        </p:txBody>
      </p:sp>
      <p:sp>
        <p:nvSpPr>
          <p:cNvPr id="22" name="Text 18"/>
          <p:cNvSpPr/>
          <p:nvPr/>
        </p:nvSpPr>
        <p:spPr>
          <a:xfrm>
            <a:off x="4617641" y="6170613"/>
            <a:ext cx="22939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cleaner.py · build_case_bank.py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2103" y="5214938"/>
            <a:ext cx="285750" cy="28575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806928" y="3530600"/>
            <a:ext cx="2693591" cy="3654425"/>
          </a:xfrm>
          <a:prstGeom prst="roundRect">
            <a:avLst>
              <a:gd name="adj" fmla="val 5658"/>
            </a:avLst>
          </a:prstGeom>
          <a:solidFill>
            <a:srgbClr val="F7F8FB"/>
          </a:solidFill>
          <a:ln/>
        </p:spPr>
      </p:sp>
      <p:sp>
        <p:nvSpPr>
          <p:cNvPr id="25" name="Shape 20"/>
          <p:cNvSpPr/>
          <p:nvPr/>
        </p:nvSpPr>
        <p:spPr>
          <a:xfrm>
            <a:off x="7806928" y="3530600"/>
            <a:ext cx="2693591" cy="38100"/>
          </a:xfrm>
          <a:prstGeom prst="rect">
            <a:avLst/>
          </a:prstGeom>
          <a:solidFill>
            <a:srgbClr val="1D3A8F"/>
          </a:solidFill>
          <a:ln/>
        </p:spPr>
      </p:sp>
      <p:sp>
        <p:nvSpPr>
          <p:cNvPr id="26" name="Text 21"/>
          <p:cNvSpPr/>
          <p:nvPr/>
        </p:nvSpPr>
        <p:spPr>
          <a:xfrm>
            <a:off x="8054578" y="3873500"/>
            <a:ext cx="24181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054578" y="4337050"/>
            <a:ext cx="24181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8054578" y="4908550"/>
            <a:ext cx="227449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 분류 · 유사사례 검색 · 성공확률 산출</a:t>
            </a:r>
            <a:endParaRPr lang="en-US" sz="1875" dirty="0"/>
          </a:p>
        </p:txBody>
      </p:sp>
      <p:sp>
        <p:nvSpPr>
          <p:cNvPr id="29" name="Text 24"/>
          <p:cNvSpPr/>
          <p:nvPr/>
        </p:nvSpPr>
        <p:spPr>
          <a:xfrm>
            <a:off x="8054578" y="5813425"/>
            <a:ext cx="22744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· LogisticRegression · KMeans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9595" y="5214938"/>
            <a:ext cx="285750" cy="28575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1224420" y="3530600"/>
            <a:ext cx="2693591" cy="3654425"/>
          </a:xfrm>
          <a:prstGeom prst="roundRect">
            <a:avLst>
              <a:gd name="adj" fmla="val 5658"/>
            </a:avLst>
          </a:prstGeom>
          <a:solidFill>
            <a:srgbClr val="F7F8FB"/>
          </a:solidFill>
          <a:ln/>
        </p:spPr>
      </p:sp>
      <p:sp>
        <p:nvSpPr>
          <p:cNvPr id="32" name="Shape 26"/>
          <p:cNvSpPr/>
          <p:nvPr/>
        </p:nvSpPr>
        <p:spPr>
          <a:xfrm>
            <a:off x="11224420" y="3530600"/>
            <a:ext cx="2693591" cy="38100"/>
          </a:xfrm>
          <a:prstGeom prst="rect">
            <a:avLst/>
          </a:prstGeom>
          <a:solidFill>
            <a:srgbClr val="1D3A8F"/>
          </a:solidFill>
          <a:ln/>
        </p:spPr>
      </p:sp>
      <p:sp>
        <p:nvSpPr>
          <p:cNvPr id="33" name="Text 27"/>
          <p:cNvSpPr/>
          <p:nvPr/>
        </p:nvSpPr>
        <p:spPr>
          <a:xfrm>
            <a:off x="11472070" y="3873500"/>
            <a:ext cx="24181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1472070" y="4337050"/>
            <a:ext cx="227449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· LLM Agent</a:t>
            </a:r>
            <a:endParaRPr lang="en-US" sz="2400" dirty="0"/>
          </a:p>
        </p:txBody>
      </p:sp>
      <p:sp>
        <p:nvSpPr>
          <p:cNvPr id="35" name="Text 29"/>
          <p:cNvSpPr/>
          <p:nvPr/>
        </p:nvSpPr>
        <p:spPr>
          <a:xfrm>
            <a:off x="11472070" y="5289550"/>
            <a:ext cx="227449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법령 조항 검색 후 리포트 · 내용증명 생성</a:t>
            </a:r>
            <a:endParaRPr lang="en-US" sz="1875" dirty="0"/>
          </a:p>
        </p:txBody>
      </p:sp>
      <p:sp>
        <p:nvSpPr>
          <p:cNvPr id="36" name="Text 30"/>
          <p:cNvSpPr/>
          <p:nvPr/>
        </p:nvSpPr>
        <p:spPr>
          <a:xfrm>
            <a:off x="11472070" y="6194425"/>
            <a:ext cx="227449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text-embedding-3-small · gpt-4o-mini</a:t>
            </a:r>
            <a:endParaRPr lang="en-US" sz="1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37085" y="5214938"/>
            <a:ext cx="285750" cy="28575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4641910" y="3530600"/>
            <a:ext cx="2693591" cy="3654425"/>
          </a:xfrm>
          <a:prstGeom prst="roundRect">
            <a:avLst>
              <a:gd name="adj" fmla="val 5658"/>
            </a:avLst>
          </a:prstGeom>
          <a:solidFill>
            <a:srgbClr val="F7F8FB"/>
          </a:solidFill>
          <a:ln/>
        </p:spPr>
      </p:sp>
      <p:sp>
        <p:nvSpPr>
          <p:cNvPr id="39" name="Shape 32"/>
          <p:cNvSpPr/>
          <p:nvPr/>
        </p:nvSpPr>
        <p:spPr>
          <a:xfrm>
            <a:off x="14641910" y="3530600"/>
            <a:ext cx="2693591" cy="38100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40" name="Text 33"/>
          <p:cNvSpPr/>
          <p:nvPr/>
        </p:nvSpPr>
        <p:spPr>
          <a:xfrm>
            <a:off x="14889560" y="3873500"/>
            <a:ext cx="24181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14889560" y="4337050"/>
            <a:ext cx="24181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· 검증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14889560" y="4908550"/>
            <a:ext cx="227449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실사용 테스트로 프롬프트·임계값 재조정</a:t>
            </a:r>
            <a:endParaRPr lang="en-US" sz="1875" dirty="0"/>
          </a:p>
        </p:txBody>
      </p:sp>
      <p:sp>
        <p:nvSpPr>
          <p:cNvPr id="43" name="Text 36"/>
          <p:cNvSpPr/>
          <p:nvPr/>
        </p:nvSpPr>
        <p:spPr>
          <a:xfrm>
            <a:off x="14889560" y="5813425"/>
            <a:ext cx="2418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14 · Vercel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952500" y="7604125"/>
            <a:ext cx="16383000" cy="933450"/>
          </a:xfrm>
          <a:prstGeom prst="roundRect">
            <a:avLst>
              <a:gd name="adj" fmla="val 14286"/>
            </a:avLst>
          </a:prstGeom>
          <a:solidFill>
            <a:srgbClr val="F0F4FF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7300" y="7908925"/>
            <a:ext cx="323850" cy="32385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752600" y="7870825"/>
            <a:ext cx="14621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279"/>
              </a:lnSpc>
              <a:buNone/>
            </a:pPr>
            <a:r>
              <a:rPr lang="en-US" sz="21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05의 실사용 관측 결과(경계값 불연속, 조항 인용 편향)를 STEP 03·04로 되돌려 재설계하는 루프를 3회 반복했다.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61505" y="587375"/>
            <a:ext cx="168982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아키텍처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프레임워크와 Python 서버리스 함수를 하나의 Vercel 배포에 공존시킨 하이브리드 구조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92500"/>
            <a:ext cx="3538538" cy="4590455"/>
          </a:xfrm>
          <a:prstGeom prst="roundRect">
            <a:avLst>
              <a:gd name="adj" fmla="val 48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8850" y="3498850"/>
            <a:ext cx="3525838" cy="1257300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12" name="Text 9"/>
          <p:cNvSpPr/>
          <p:nvPr/>
        </p:nvSpPr>
        <p:spPr>
          <a:xfrm>
            <a:off x="1225550" y="3727450"/>
            <a:ext cx="32916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25550" y="4114800"/>
            <a:ext cx="329168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입력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225550" y="5041900"/>
            <a:ext cx="329168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DisputeForm.tsx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225550" y="5568950"/>
            <a:ext cx="308221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 서술문 · 피해 금액 · 계약 일자 · 품목 카테고리 힌트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1225550" y="7130455"/>
            <a:ext cx="3082211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Tailwind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9638" y="5644853"/>
            <a:ext cx="285750" cy="2857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33988" y="3492500"/>
            <a:ext cx="3538538" cy="4590455"/>
          </a:xfrm>
          <a:prstGeom prst="roundRect">
            <a:avLst>
              <a:gd name="adj" fmla="val 48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40338" y="3498850"/>
            <a:ext cx="3525838" cy="1257300"/>
          </a:xfrm>
          <a:prstGeom prst="rect">
            <a:avLst/>
          </a:prstGeom>
          <a:solidFill>
            <a:srgbClr val="0F9D76"/>
          </a:solidFill>
          <a:ln/>
        </p:spPr>
      </p:sp>
      <p:sp>
        <p:nvSpPr>
          <p:cNvPr id="20" name="Text 16"/>
          <p:cNvSpPr/>
          <p:nvPr/>
        </p:nvSpPr>
        <p:spPr>
          <a:xfrm>
            <a:off x="5507038" y="3727450"/>
            <a:ext cx="32916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D3F4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RUNTIME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507038" y="4114800"/>
            <a:ext cx="329168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/api/analyze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5507038" y="5041900"/>
            <a:ext cx="329168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ml_predict.py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5507038" y="5568950"/>
            <a:ext cx="308221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cleaner.py 정제 → predictor.py 분류 · 유사사례 Top-3 · 성공확률 산출</a:t>
            </a:r>
            <a:endParaRPr lang="en-US" sz="1875" dirty="0"/>
          </a:p>
        </p:txBody>
      </p:sp>
      <p:sp>
        <p:nvSpPr>
          <p:cNvPr id="24" name="Text 20"/>
          <p:cNvSpPr/>
          <p:nvPr/>
        </p:nvSpPr>
        <p:spPr>
          <a:xfrm>
            <a:off x="5507038" y="7460655"/>
            <a:ext cx="32916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· joblib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1125" y="5644853"/>
            <a:ext cx="285750" cy="28575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515475" y="3492500"/>
            <a:ext cx="3538538" cy="4590455"/>
          </a:xfrm>
          <a:prstGeom prst="roundRect">
            <a:avLst>
              <a:gd name="adj" fmla="val 48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21825" y="3498850"/>
            <a:ext cx="3525838" cy="1257300"/>
          </a:xfrm>
          <a:prstGeom prst="rect">
            <a:avLst/>
          </a:prstGeom>
          <a:solidFill>
            <a:srgbClr val="1D3A8F"/>
          </a:solidFill>
          <a:ln/>
        </p:spPr>
      </p:sp>
      <p:sp>
        <p:nvSpPr>
          <p:cNvPr id="28" name="Text 23"/>
          <p:cNvSpPr/>
          <p:nvPr/>
        </p:nvSpPr>
        <p:spPr>
          <a:xfrm>
            <a:off x="9788526" y="3727450"/>
            <a:ext cx="32916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C2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RUNTIME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9788526" y="4114800"/>
            <a:ext cx="329168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/api/agent</a:t>
            </a:r>
            <a:endParaRPr lang="en-US" sz="2250" dirty="0"/>
          </a:p>
        </p:txBody>
      </p:sp>
      <p:sp>
        <p:nvSpPr>
          <p:cNvPr id="30" name="Text 25"/>
          <p:cNvSpPr/>
          <p:nvPr/>
        </p:nvSpPr>
        <p:spPr>
          <a:xfrm>
            <a:off x="9788526" y="5041900"/>
            <a:ext cx="329168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legalSearch.ts + LLM</a:t>
            </a:r>
            <a:endParaRPr lang="en-US" sz="1950" dirty="0"/>
          </a:p>
        </p:txBody>
      </p:sp>
      <p:sp>
        <p:nvSpPr>
          <p:cNvPr id="31" name="Text 26"/>
          <p:cNvSpPr/>
          <p:nvPr/>
        </p:nvSpPr>
        <p:spPr>
          <a:xfrm>
            <a:off x="9788526" y="5568950"/>
            <a:ext cx="308221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법령 조항 Top-2 검색 후 프롬프트 주입, Structured JSON 리포트 생성</a:t>
            </a:r>
            <a:endParaRPr lang="en-US" sz="1875" dirty="0"/>
          </a:p>
        </p:txBody>
      </p:sp>
      <p:sp>
        <p:nvSpPr>
          <p:cNvPr id="32" name="Text 27"/>
          <p:cNvSpPr/>
          <p:nvPr/>
        </p:nvSpPr>
        <p:spPr>
          <a:xfrm>
            <a:off x="9788526" y="7130455"/>
            <a:ext cx="3082211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gpt-4o-mini · temperature 0.2</a:t>
            </a:r>
            <a:endParaRPr lang="en-US" sz="1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82613" y="5644853"/>
            <a:ext cx="285750" cy="28575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3796963" y="3492500"/>
            <a:ext cx="3538538" cy="4590455"/>
          </a:xfrm>
          <a:prstGeom prst="roundRect">
            <a:avLst>
              <a:gd name="adj" fmla="val 484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3803313" y="3498850"/>
            <a:ext cx="3525838" cy="1257300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36" name="Text 30"/>
          <p:cNvSpPr/>
          <p:nvPr/>
        </p:nvSpPr>
        <p:spPr>
          <a:xfrm>
            <a:off x="14070013" y="3727450"/>
            <a:ext cx="32916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14070013" y="4114800"/>
            <a:ext cx="329168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리포트</a:t>
            </a:r>
            <a:endParaRPr lang="en-US" sz="2250" dirty="0"/>
          </a:p>
        </p:txBody>
      </p:sp>
      <p:sp>
        <p:nvSpPr>
          <p:cNvPr id="38" name="Text 32"/>
          <p:cNvSpPr/>
          <p:nvPr/>
        </p:nvSpPr>
        <p:spPr>
          <a:xfrm>
            <a:off x="14070013" y="5041900"/>
            <a:ext cx="329168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ResultReport.tsx</a:t>
            </a:r>
            <a:endParaRPr lang="en-US" sz="1950" dirty="0"/>
          </a:p>
        </p:txBody>
      </p:sp>
      <p:sp>
        <p:nvSpPr>
          <p:cNvPr id="39" name="Text 33"/>
          <p:cNvSpPr/>
          <p:nvPr/>
        </p:nvSpPr>
        <p:spPr>
          <a:xfrm>
            <a:off x="14070013" y="5568950"/>
            <a:ext cx="308221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게이지 · 인용 법령 아코디언 · 실행 계획 · 내용증명 모달</a:t>
            </a:r>
            <a:endParaRPr lang="en-US" sz="1875" dirty="0"/>
          </a:p>
        </p:txBody>
      </p:sp>
      <p:sp>
        <p:nvSpPr>
          <p:cNvPr id="40" name="Text 34"/>
          <p:cNvSpPr/>
          <p:nvPr/>
        </p:nvSpPr>
        <p:spPr>
          <a:xfrm>
            <a:off x="14070013" y="7460655"/>
            <a:ext cx="32916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Recharts · Framer Motion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952500" y="8425855"/>
            <a:ext cx="8077200" cy="1175345"/>
          </a:xfrm>
          <a:prstGeom prst="roundRect">
            <a:avLst>
              <a:gd name="adj" fmla="val 11346"/>
            </a:avLst>
          </a:prstGeom>
          <a:solidFill>
            <a:srgbClr val="F7F8FB"/>
          </a:solidFill>
          <a:ln/>
        </p:spPr>
      </p:sp>
      <p:sp>
        <p:nvSpPr>
          <p:cNvPr id="42" name="Shape 36"/>
          <p:cNvSpPr/>
          <p:nvPr/>
        </p:nvSpPr>
        <p:spPr>
          <a:xfrm>
            <a:off x="1219200" y="8965903"/>
            <a:ext cx="87709" cy="95250"/>
          </a:xfrm>
          <a:prstGeom prst="ellipse">
            <a:avLst/>
          </a:prstGeom>
          <a:solidFill>
            <a:srgbClr val="0F9D76"/>
          </a:solidFill>
          <a:ln/>
        </p:spPr>
      </p:sp>
      <p:sp>
        <p:nvSpPr>
          <p:cNvPr id="43" name="Text 37"/>
          <p:cNvSpPr/>
          <p:nvPr/>
        </p:nvSpPr>
        <p:spPr>
          <a:xfrm>
            <a:off x="1459309" y="8654455"/>
            <a:ext cx="7522802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82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키 없음 · RAG 실패 시 fallbackAgent.ts 규칙 기반 폴백으로 무중단 동작</a:t>
            </a:r>
            <a:endParaRPr lang="en-US" sz="1950" dirty="0"/>
          </a:p>
        </p:txBody>
      </p:sp>
      <p:sp>
        <p:nvSpPr>
          <p:cNvPr id="44" name="Shape 38"/>
          <p:cNvSpPr/>
          <p:nvPr/>
        </p:nvSpPr>
        <p:spPr>
          <a:xfrm>
            <a:off x="9258300" y="8425855"/>
            <a:ext cx="8077200" cy="1175345"/>
          </a:xfrm>
          <a:prstGeom prst="roundRect">
            <a:avLst>
              <a:gd name="adj" fmla="val 11346"/>
            </a:avLst>
          </a:prstGeom>
          <a:solidFill>
            <a:srgbClr val="F7F8FB"/>
          </a:solidFill>
          <a:ln/>
        </p:spPr>
      </p:sp>
      <p:sp>
        <p:nvSpPr>
          <p:cNvPr id="45" name="Shape 39"/>
          <p:cNvSpPr/>
          <p:nvPr/>
        </p:nvSpPr>
        <p:spPr>
          <a:xfrm>
            <a:off x="9525000" y="8965903"/>
            <a:ext cx="86916" cy="95250"/>
          </a:xfrm>
          <a:prstGeom prst="ellipse">
            <a:avLst/>
          </a:prstGeom>
          <a:solidFill>
            <a:srgbClr val="1D3A8F"/>
          </a:solidFill>
          <a:ln/>
        </p:spPr>
      </p:sp>
      <p:sp>
        <p:nvSpPr>
          <p:cNvPr id="46" name="Text 40"/>
          <p:cNvSpPr/>
          <p:nvPr/>
        </p:nvSpPr>
        <p:spPr>
          <a:xfrm>
            <a:off x="9764316" y="8654455"/>
            <a:ext cx="7523619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82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VersionWatcher가 커밋 해시를 60초 주기로 확인해 새 배포 시 자동 새로고침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86806" y="587375"/>
            <a:ext cx="166199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· 전처리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전처리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공정거래위원회 「소비자 민원학습데이터 — 모범상담 사례」 · 한국소비자원 공개 기준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92500"/>
            <a:ext cx="4121150" cy="2070100"/>
          </a:xfrm>
          <a:prstGeom prst="roundRect">
            <a:avLst>
              <a:gd name="adj" fmla="val 6442"/>
            </a:avLst>
          </a:prstGeom>
          <a:solidFill>
            <a:srgbClr val="F7F8FB"/>
          </a:solidFill>
          <a:ln/>
        </p:spPr>
      </p:sp>
      <p:sp>
        <p:nvSpPr>
          <p:cNvPr id="11" name="Text 8"/>
          <p:cNvSpPr/>
          <p:nvPr/>
        </p:nvSpPr>
        <p:spPr>
          <a:xfrm>
            <a:off x="1219200" y="3740150"/>
            <a:ext cx="39465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CSV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19200" y="4146550"/>
            <a:ext cx="3946525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565건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19200" y="4654550"/>
            <a:ext cx="369538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사건번호 · 제목 · 내용 · 답변 (라벨 없음)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4150" y="4384675"/>
            <a:ext cx="285750" cy="2857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740400" y="3492500"/>
            <a:ext cx="4121150" cy="2070100"/>
          </a:xfrm>
          <a:prstGeom prst="roundRect">
            <a:avLst>
              <a:gd name="adj" fmla="val 6442"/>
            </a:avLst>
          </a:prstGeom>
          <a:solidFill>
            <a:srgbClr val="F0F4FF"/>
          </a:solidFill>
          <a:ln/>
        </p:spPr>
      </p:sp>
      <p:sp>
        <p:nvSpPr>
          <p:cNvPr id="16" name="Text 12"/>
          <p:cNvSpPr/>
          <p:nvPr/>
        </p:nvSpPr>
        <p:spPr>
          <a:xfrm>
            <a:off x="6007100" y="3740150"/>
            <a:ext cx="39465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 케이스뱅크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07100" y="4146550"/>
            <a:ext cx="3946525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425건</a:t>
            </a:r>
            <a:endParaRPr lang="en-US" sz="2850" dirty="0"/>
          </a:p>
        </p:txBody>
      </p:sp>
      <p:sp>
        <p:nvSpPr>
          <p:cNvPr id="18" name="Text 14"/>
          <p:cNvSpPr/>
          <p:nvPr/>
        </p:nvSpPr>
        <p:spPr>
          <a:xfrm>
            <a:off x="6007100" y="4654550"/>
            <a:ext cx="369538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카테고리 배정 + 수작성 보강 94건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952500" y="5772150"/>
            <a:ext cx="8909050" cy="3829050"/>
          </a:xfrm>
          <a:prstGeom prst="roundRect">
            <a:avLst>
              <a:gd name="adj" fmla="val 3980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44600" y="6083300"/>
            <a:ext cx="915733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단계 (cleaner.py)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1244600" y="67056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9D76"/>
          </a:solidFill>
          <a:ln/>
        </p:spPr>
      </p:sp>
      <p:sp>
        <p:nvSpPr>
          <p:cNvPr id="22" name="Text 18"/>
          <p:cNvSpPr/>
          <p:nvPr/>
        </p:nvSpPr>
        <p:spPr>
          <a:xfrm>
            <a:off x="1206500" y="67056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720850" y="6705600"/>
            <a:ext cx="64521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PII 마스킹 — 이름 · 연락처 · 계좌 등 개인정보 패턴 치환</a:t>
            </a:r>
            <a:endParaRPr lang="en-US" sz="1950" dirty="0"/>
          </a:p>
        </p:txBody>
      </p:sp>
      <p:sp>
        <p:nvSpPr>
          <p:cNvPr id="24" name="Shape 20"/>
          <p:cNvSpPr/>
          <p:nvPr/>
        </p:nvSpPr>
        <p:spPr>
          <a:xfrm>
            <a:off x="1244600" y="728662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9D76"/>
          </a:solidFill>
          <a:ln/>
        </p:spPr>
      </p:sp>
      <p:sp>
        <p:nvSpPr>
          <p:cNvPr id="25" name="Text 21"/>
          <p:cNvSpPr/>
          <p:nvPr/>
        </p:nvSpPr>
        <p:spPr>
          <a:xfrm>
            <a:off x="1206500" y="72866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720850" y="7286625"/>
            <a:ext cx="540780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 제거 및 결측치 정제 (Pandas · NumPy)</a:t>
            </a:r>
            <a:endParaRPr lang="en-US" sz="1950" dirty="0"/>
          </a:p>
        </p:txBody>
      </p:sp>
      <p:sp>
        <p:nvSpPr>
          <p:cNvPr id="27" name="Shape 23"/>
          <p:cNvSpPr/>
          <p:nvPr/>
        </p:nvSpPr>
        <p:spPr>
          <a:xfrm>
            <a:off x="1244600" y="78676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9D76"/>
          </a:solidFill>
          <a:ln/>
        </p:spPr>
      </p:sp>
      <p:sp>
        <p:nvSpPr>
          <p:cNvPr id="28" name="Text 24"/>
          <p:cNvSpPr/>
          <p:nvPr/>
        </p:nvSpPr>
        <p:spPr>
          <a:xfrm>
            <a:off x="1206500" y="78676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720850" y="7867650"/>
            <a:ext cx="62944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파생변수 생성 — 텍스트 길이 · 단어 수 · 키워드 플래그</a:t>
            </a:r>
            <a:endParaRPr lang="en-US" sz="1950" dirty="0"/>
          </a:p>
        </p:txBody>
      </p:sp>
      <p:sp>
        <p:nvSpPr>
          <p:cNvPr id="30" name="Shape 26"/>
          <p:cNvSpPr/>
          <p:nvPr/>
        </p:nvSpPr>
        <p:spPr>
          <a:xfrm>
            <a:off x="1244600" y="84486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9D76"/>
          </a:solidFill>
          <a:ln/>
        </p:spPr>
      </p:sp>
      <p:sp>
        <p:nvSpPr>
          <p:cNvPr id="31" name="Text 27"/>
          <p:cNvSpPr/>
          <p:nvPr/>
        </p:nvSpPr>
        <p:spPr>
          <a:xfrm>
            <a:off x="1206500" y="84486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720850" y="8448675"/>
            <a:ext cx="73649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어조의 긍정 · 부정 신호어 빈도로 base_success_rate 산출</a:t>
            </a:r>
            <a:endParaRPr lang="en-US" sz="1950" dirty="0"/>
          </a:p>
        </p:txBody>
      </p:sp>
      <p:sp>
        <p:nvSpPr>
          <p:cNvPr id="33" name="Shape 29"/>
          <p:cNvSpPr/>
          <p:nvPr/>
        </p:nvSpPr>
        <p:spPr>
          <a:xfrm>
            <a:off x="10166350" y="3492500"/>
            <a:ext cx="7169150" cy="6108700"/>
          </a:xfrm>
          <a:prstGeom prst="roundRect">
            <a:avLst>
              <a:gd name="adj" fmla="val 2495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458450" y="3803650"/>
            <a:ext cx="724344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불균형</a:t>
            </a:r>
            <a:endParaRPr lang="en-US" sz="2250" dirty="0"/>
          </a:p>
        </p:txBody>
      </p:sp>
      <p:sp>
        <p:nvSpPr>
          <p:cNvPr id="35" name="Text 31"/>
          <p:cNvSpPr/>
          <p:nvPr/>
        </p:nvSpPr>
        <p:spPr>
          <a:xfrm>
            <a:off x="10458450" y="4330700"/>
            <a:ext cx="678249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실데이터 편차가 커 희소 카테고리는 SYNTHETIC_CASES 94건으로 보강</a:t>
            </a:r>
            <a:endParaRPr lang="en-US" sz="1875" dirty="0"/>
          </a:p>
        </p:txBody>
      </p:sp>
      <p:sp>
        <p:nvSpPr>
          <p:cNvPr id="36" name="Text 32"/>
          <p:cNvSpPr/>
          <p:nvPr/>
        </p:nvSpPr>
        <p:spPr>
          <a:xfrm>
            <a:off x="10458450" y="5349875"/>
            <a:ext cx="1257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· 병원</a:t>
            </a:r>
            <a:endParaRPr lang="en-US" sz="1950" dirty="0"/>
          </a:p>
        </p:txBody>
      </p:sp>
      <p:sp>
        <p:nvSpPr>
          <p:cNvPr id="37" name="Text 33"/>
          <p:cNvSpPr/>
          <p:nvPr/>
        </p:nvSpPr>
        <p:spPr>
          <a:xfrm>
            <a:off x="16377147" y="5349875"/>
            <a:ext cx="74245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153건</a:t>
            </a:r>
            <a:endParaRPr lang="en-US" sz="1950" dirty="0"/>
          </a:p>
        </p:txBody>
      </p:sp>
      <p:sp>
        <p:nvSpPr>
          <p:cNvPr id="38" name="Shape 34"/>
          <p:cNvSpPr/>
          <p:nvPr/>
        </p:nvSpPr>
        <p:spPr>
          <a:xfrm>
            <a:off x="10458450" y="5800725"/>
            <a:ext cx="6584950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39" name="Shape 35"/>
          <p:cNvSpPr/>
          <p:nvPr/>
        </p:nvSpPr>
        <p:spPr>
          <a:xfrm>
            <a:off x="10458450" y="5800725"/>
            <a:ext cx="6584950" cy="209550"/>
          </a:xfrm>
          <a:prstGeom prst="roundRect">
            <a:avLst>
              <a:gd name="adj" fmla="val 27273"/>
            </a:avLst>
          </a:prstGeom>
          <a:solidFill>
            <a:srgbClr val="1D3A8F"/>
          </a:solidFill>
          <a:ln/>
        </p:spPr>
      </p:sp>
      <p:sp>
        <p:nvSpPr>
          <p:cNvPr id="40" name="Text 36"/>
          <p:cNvSpPr/>
          <p:nvPr/>
        </p:nvSpPr>
        <p:spPr>
          <a:xfrm>
            <a:off x="10458450" y="6219825"/>
            <a:ext cx="154979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· 인터넷</a:t>
            </a:r>
            <a:endParaRPr lang="en-US" sz="1950" dirty="0"/>
          </a:p>
        </p:txBody>
      </p:sp>
      <p:sp>
        <p:nvSpPr>
          <p:cNvPr id="41" name="Text 37"/>
          <p:cNvSpPr/>
          <p:nvPr/>
        </p:nvSpPr>
        <p:spPr>
          <a:xfrm>
            <a:off x="16523296" y="6219825"/>
            <a:ext cx="5963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62건</a:t>
            </a:r>
            <a:endParaRPr lang="en-US" sz="1950" dirty="0"/>
          </a:p>
        </p:txBody>
      </p:sp>
      <p:sp>
        <p:nvSpPr>
          <p:cNvPr id="42" name="Shape 38"/>
          <p:cNvSpPr/>
          <p:nvPr/>
        </p:nvSpPr>
        <p:spPr>
          <a:xfrm>
            <a:off x="10458450" y="6670675"/>
            <a:ext cx="6584950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43" name="Shape 39"/>
          <p:cNvSpPr/>
          <p:nvPr/>
        </p:nvSpPr>
        <p:spPr>
          <a:xfrm>
            <a:off x="10458450" y="6670675"/>
            <a:ext cx="2699742" cy="209550"/>
          </a:xfrm>
          <a:prstGeom prst="roundRect">
            <a:avLst>
              <a:gd name="adj" fmla="val 27273"/>
            </a:avLst>
          </a:prstGeom>
          <a:solidFill>
            <a:srgbClr val="1D3A8F"/>
          </a:solidFill>
          <a:ln/>
        </p:spPr>
      </p:sp>
      <p:sp>
        <p:nvSpPr>
          <p:cNvPr id="44" name="Text 40"/>
          <p:cNvSpPr/>
          <p:nvPr/>
        </p:nvSpPr>
        <p:spPr>
          <a:xfrm>
            <a:off x="10458450" y="7089775"/>
            <a:ext cx="1257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의류 · 배송</a:t>
            </a:r>
            <a:endParaRPr lang="en-US" sz="1950" dirty="0"/>
          </a:p>
        </p:txBody>
      </p:sp>
      <p:sp>
        <p:nvSpPr>
          <p:cNvPr id="45" name="Text 41"/>
          <p:cNvSpPr/>
          <p:nvPr/>
        </p:nvSpPr>
        <p:spPr>
          <a:xfrm>
            <a:off x="16523296" y="7089775"/>
            <a:ext cx="5963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38건</a:t>
            </a:r>
            <a:endParaRPr lang="en-US" sz="1950" dirty="0"/>
          </a:p>
        </p:txBody>
      </p:sp>
      <p:sp>
        <p:nvSpPr>
          <p:cNvPr id="46" name="Shape 42"/>
          <p:cNvSpPr/>
          <p:nvPr/>
        </p:nvSpPr>
        <p:spPr>
          <a:xfrm>
            <a:off x="10458450" y="7540625"/>
            <a:ext cx="6584950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47" name="Shape 43"/>
          <p:cNvSpPr/>
          <p:nvPr/>
        </p:nvSpPr>
        <p:spPr>
          <a:xfrm>
            <a:off x="10458450" y="7540625"/>
            <a:ext cx="1646238" cy="209550"/>
          </a:xfrm>
          <a:prstGeom prst="roundRect">
            <a:avLst>
              <a:gd name="adj" fmla="val 27273"/>
            </a:avLst>
          </a:prstGeom>
          <a:solidFill>
            <a:srgbClr val="1D3A8F"/>
          </a:solidFill>
          <a:ln/>
        </p:spPr>
      </p:sp>
      <p:sp>
        <p:nvSpPr>
          <p:cNvPr id="48" name="Text 44"/>
          <p:cNvSpPr/>
          <p:nvPr/>
        </p:nvSpPr>
        <p:spPr>
          <a:xfrm>
            <a:off x="10458450" y="7959725"/>
            <a:ext cx="205108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체육시설 · 헬스장</a:t>
            </a:r>
            <a:endParaRPr lang="en-US" sz="1950" dirty="0"/>
          </a:p>
        </p:txBody>
      </p:sp>
      <p:sp>
        <p:nvSpPr>
          <p:cNvPr id="49" name="Text 45"/>
          <p:cNvSpPr/>
          <p:nvPr/>
        </p:nvSpPr>
        <p:spPr>
          <a:xfrm>
            <a:off x="16669445" y="7959725"/>
            <a:ext cx="4501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4건</a:t>
            </a:r>
            <a:endParaRPr lang="en-US" sz="1950" dirty="0"/>
          </a:p>
        </p:txBody>
      </p:sp>
      <p:sp>
        <p:nvSpPr>
          <p:cNvPr id="50" name="Shape 46"/>
          <p:cNvSpPr/>
          <p:nvPr/>
        </p:nvSpPr>
        <p:spPr>
          <a:xfrm>
            <a:off x="10458450" y="8410575"/>
            <a:ext cx="6584950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51" name="Shape 47"/>
          <p:cNvSpPr/>
          <p:nvPr/>
        </p:nvSpPr>
        <p:spPr>
          <a:xfrm>
            <a:off x="10458450" y="8410575"/>
            <a:ext cx="263327" cy="209550"/>
          </a:xfrm>
          <a:prstGeom prst="roundRect">
            <a:avLst>
              <a:gd name="adj" fmla="val 27273"/>
            </a:avLst>
          </a:prstGeom>
          <a:solidFill>
            <a:srgbClr val="0F9D76"/>
          </a:solidFill>
          <a:ln/>
        </p:spPr>
      </p:sp>
      <p:sp>
        <p:nvSpPr>
          <p:cNvPr id="52" name="Text 48"/>
          <p:cNvSpPr/>
          <p:nvPr/>
        </p:nvSpPr>
        <p:spPr>
          <a:xfrm>
            <a:off x="10458450" y="8947150"/>
            <a:ext cx="67824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800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막대는 최다 카테고리 대비 상대 비율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80419" y="587375"/>
            <a:ext cx="10934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모델링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모델과 유사사례 검색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n-gram 벡터화 → 다중 분류 → 신뢰도에 따라 검색 범위를 바꾸는 2단 전략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92500"/>
            <a:ext cx="5308600" cy="2778125"/>
          </a:xfrm>
          <a:prstGeom prst="roundRect">
            <a:avLst>
              <a:gd name="adj" fmla="val 5486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4600" y="3803650"/>
            <a:ext cx="51968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VECTORIZE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44600" y="4267200"/>
            <a:ext cx="51968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char n-gram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44600" y="4845050"/>
            <a:ext cx="486613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analyzer="char_wb", ngram_range=(2,4) — 조사 · 어미 변화에 강건하고 서버리스에 가볍다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6489700" y="3492500"/>
            <a:ext cx="5308600" cy="2778125"/>
          </a:xfrm>
          <a:prstGeom prst="roundRect">
            <a:avLst>
              <a:gd name="adj" fmla="val 5486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1800" y="3803650"/>
            <a:ext cx="51968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81800" y="4267200"/>
            <a:ext cx="51968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781800" y="4845050"/>
            <a:ext cx="486613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카테고리 다중분류 · predict_proba() 최댓값을 confidence로 사용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2026901" y="3492500"/>
            <a:ext cx="5308600" cy="2778125"/>
          </a:xfrm>
          <a:prstGeom prst="roundRect">
            <a:avLst>
              <a:gd name="adj" fmla="val 5486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19000" y="3803650"/>
            <a:ext cx="51968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319000" y="4267200"/>
            <a:ext cx="51968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KMeans + Cosine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2319000" y="4845050"/>
            <a:ext cx="486613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코사인 유사도로 과거 사례 Top-3를 뽑아 dispute_type과 성공률 근거로 사용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952500" y="6651625"/>
            <a:ext cx="7752556" cy="2949575"/>
          </a:xfrm>
          <a:prstGeom prst="roundRect">
            <a:avLst>
              <a:gd name="adj" fmla="val 5167"/>
            </a:avLst>
          </a:prstGeom>
          <a:solidFill>
            <a:srgbClr val="F7F8FB"/>
          </a:solidFill>
          <a:ln/>
        </p:spPr>
      </p:sp>
      <p:sp>
        <p:nvSpPr>
          <p:cNvPr id="23" name="Text 20"/>
          <p:cNvSpPr/>
          <p:nvPr/>
        </p:nvSpPr>
        <p:spPr>
          <a:xfrm>
            <a:off x="1257300" y="6975475"/>
            <a:ext cx="7857252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신뢰도 분기 (threshold 35%)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257300" y="7612162"/>
            <a:ext cx="15716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35%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2876550" y="7610475"/>
            <a:ext cx="6076077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82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카테고리 내에서만 유사사례 검색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257300" y="8142684"/>
            <a:ext cx="15716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76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35%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2876550" y="8140998"/>
            <a:ext cx="6076077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82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KMeans 군집 전체로 검색 범위 확장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8933656" y="6651625"/>
            <a:ext cx="8401844" cy="2949575"/>
          </a:xfrm>
          <a:prstGeom prst="roundRect">
            <a:avLst>
              <a:gd name="adj" fmla="val 5167"/>
            </a:avLst>
          </a:prstGeom>
          <a:solidFill>
            <a:srgbClr val="10151F"/>
          </a:solidFill>
          <a:ln/>
        </p:spPr>
      </p:sp>
      <p:sp>
        <p:nvSpPr>
          <p:cNvPr id="29" name="Text 26"/>
          <p:cNvSpPr/>
          <p:nvPr/>
        </p:nvSpPr>
        <p:spPr>
          <a:xfrm>
            <a:off x="9238456" y="7422257"/>
            <a:ext cx="857146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RATE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238456" y="7923907"/>
            <a:ext cx="8026011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486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0.55 × confidence + 0.45 × Top-3 base_success_rate 평균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29061" y="587375"/>
            <a:ext cx="172551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지식베이스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법령 지식베이스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업종 + 공통 조항 총 42개 청크 · 사전 임베딩 후 하이브리드 검색으로 Top-2 조항 인용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843338"/>
            <a:ext cx="3382467" cy="1871663"/>
          </a:xfrm>
          <a:prstGeom prst="roundRect">
            <a:avLst>
              <a:gd name="adj" fmla="val 8142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550" y="4135438"/>
            <a:ext cx="312000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25550" y="4579938"/>
            <a:ext cx="31200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텍스트 임베딩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225550" y="5065713"/>
            <a:ext cx="312000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text-embedding-3-small</a:t>
            </a:r>
            <a:endParaRPr lang="en-US" sz="1875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5467" y="4636294"/>
            <a:ext cx="285750" cy="2857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01717" y="3664744"/>
            <a:ext cx="3409652" cy="2228850"/>
          </a:xfrm>
          <a:prstGeom prst="roundRect">
            <a:avLst>
              <a:gd name="adj" fmla="val 6838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74766" y="3956844"/>
            <a:ext cx="314990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274766" y="4401344"/>
            <a:ext cx="31499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legal_kb_embedded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5274766" y="4887119"/>
            <a:ext cx="294945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42개 조항 청크 (빌드 산출물)</a:t>
            </a:r>
            <a:endParaRPr lang="en-US" sz="1875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01869" y="4636294"/>
            <a:ext cx="285750" cy="2857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078119" y="3492500"/>
            <a:ext cx="4220766" cy="2573338"/>
          </a:xfrm>
          <a:prstGeom prst="roundRect">
            <a:avLst>
              <a:gd name="adj" fmla="val 5922"/>
            </a:avLst>
          </a:prstGeom>
          <a:solidFill>
            <a:srgbClr val="F0F4FF"/>
          </a:solidFill>
          <a:ln/>
        </p:spPr>
      </p:sp>
      <p:sp>
        <p:nvSpPr>
          <p:cNvPr id="21" name="Text 16"/>
          <p:cNvSpPr/>
          <p:nvPr/>
        </p:nvSpPr>
        <p:spPr>
          <a:xfrm>
            <a:off x="9344819" y="3778250"/>
            <a:ext cx="405610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SCORE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344819" y="4222750"/>
            <a:ext cx="40561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코사인 + 카테고리 + 키워드</a:t>
            </a:r>
            <a:endParaRPr lang="en-US" sz="2250" dirty="0"/>
          </a:p>
        </p:txBody>
      </p:sp>
      <p:sp>
        <p:nvSpPr>
          <p:cNvPr id="23" name="Text 18"/>
          <p:cNvSpPr/>
          <p:nvPr/>
        </p:nvSpPr>
        <p:spPr>
          <a:xfrm>
            <a:off x="9344819" y="4708525"/>
            <a:ext cx="379798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 유사도만으로는 "천재지변" 등 명시 키워드 조항이 밀리는 사례가 관측되어 가중치 추가</a:t>
            </a:r>
            <a:endParaRPr lang="en-US" sz="1875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89385" y="4636294"/>
            <a:ext cx="285750" cy="2857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3965635" y="3671094"/>
            <a:ext cx="3369866" cy="2216150"/>
          </a:xfrm>
          <a:prstGeom prst="roundRect">
            <a:avLst>
              <a:gd name="adj" fmla="val 6877"/>
            </a:avLst>
          </a:prstGeom>
          <a:solidFill>
            <a:srgbClr val="10151F"/>
          </a:solidFill>
          <a:ln/>
        </p:spPr>
      </p:sp>
      <p:sp>
        <p:nvSpPr>
          <p:cNvPr id="26" name="Text 20"/>
          <p:cNvSpPr/>
          <p:nvPr/>
        </p:nvSpPr>
        <p:spPr>
          <a:xfrm>
            <a:off x="14232335" y="3956844"/>
            <a:ext cx="312011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4232335" y="4401344"/>
            <a:ext cx="31201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Top-2 조항</a:t>
            </a:r>
            <a:endParaRPr lang="en-US" sz="2250" dirty="0"/>
          </a:p>
        </p:txBody>
      </p:sp>
      <p:sp>
        <p:nvSpPr>
          <p:cNvPr id="28" name="Text 22"/>
          <p:cNvSpPr/>
          <p:nvPr/>
        </p:nvSpPr>
        <p:spPr>
          <a:xfrm>
            <a:off x="14232335" y="4887119"/>
            <a:ext cx="29215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C3CA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프롬프트에 REFERENCE CONTEXT로 주입</a:t>
            </a:r>
            <a:endParaRPr lang="en-US" sz="1875" dirty="0"/>
          </a:p>
        </p:txBody>
      </p:sp>
      <p:sp>
        <p:nvSpPr>
          <p:cNvPr id="29" name="Shape 23"/>
          <p:cNvSpPr/>
          <p:nvPr/>
        </p:nvSpPr>
        <p:spPr>
          <a:xfrm>
            <a:off x="952500" y="6484938"/>
            <a:ext cx="8741073" cy="3429000"/>
          </a:xfrm>
          <a:prstGeom prst="roundRect">
            <a:avLst>
              <a:gd name="adj" fmla="val 4444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263650" y="6815138"/>
            <a:ext cx="89306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청크 스키마</a:t>
            </a:r>
            <a:endParaRPr lang="en-US" sz="2250" dirty="0"/>
          </a:p>
        </p:txBody>
      </p:sp>
      <p:sp>
        <p:nvSpPr>
          <p:cNvPr id="31" name="Shape 25"/>
          <p:cNvSpPr/>
          <p:nvPr/>
        </p:nvSpPr>
        <p:spPr>
          <a:xfrm>
            <a:off x="1263650" y="7437438"/>
            <a:ext cx="1340148" cy="539750"/>
          </a:xfrm>
          <a:prstGeom prst="roundRect">
            <a:avLst>
              <a:gd name="adj" fmla="val 14118"/>
            </a:avLst>
          </a:prstGeom>
          <a:solidFill>
            <a:srgbClr val="F0F4FF"/>
          </a:solidFill>
          <a:ln/>
        </p:spPr>
      </p:sp>
      <p:sp>
        <p:nvSpPr>
          <p:cNvPr id="32" name="Text 26"/>
          <p:cNvSpPr/>
          <p:nvPr/>
        </p:nvSpPr>
        <p:spPr>
          <a:xfrm>
            <a:off x="1435100" y="7532688"/>
            <a:ext cx="107344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</a:t>
            </a:r>
            <a:endParaRPr lang="en-US" sz="1875" dirty="0"/>
          </a:p>
        </p:txBody>
      </p:sp>
      <p:sp>
        <p:nvSpPr>
          <p:cNvPr id="33" name="Shape 27"/>
          <p:cNvSpPr/>
          <p:nvPr/>
        </p:nvSpPr>
        <p:spPr>
          <a:xfrm>
            <a:off x="2718098" y="7437438"/>
            <a:ext cx="928688" cy="539750"/>
          </a:xfrm>
          <a:prstGeom prst="roundRect">
            <a:avLst>
              <a:gd name="adj" fmla="val 14118"/>
            </a:avLst>
          </a:prstGeom>
          <a:solidFill>
            <a:srgbClr val="F0F4FF"/>
          </a:solidFill>
          <a:ln/>
        </p:spPr>
      </p:sp>
      <p:sp>
        <p:nvSpPr>
          <p:cNvPr id="34" name="Text 28"/>
          <p:cNvSpPr/>
          <p:nvPr/>
        </p:nvSpPr>
        <p:spPr>
          <a:xfrm>
            <a:off x="2889548" y="7532688"/>
            <a:ext cx="66198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topic</a:t>
            </a:r>
            <a:endParaRPr lang="en-US" sz="1875" dirty="0"/>
          </a:p>
        </p:txBody>
      </p:sp>
      <p:sp>
        <p:nvSpPr>
          <p:cNvPr id="35" name="Shape 29"/>
          <p:cNvSpPr/>
          <p:nvPr/>
        </p:nvSpPr>
        <p:spPr>
          <a:xfrm>
            <a:off x="3761085" y="7437438"/>
            <a:ext cx="1543348" cy="539750"/>
          </a:xfrm>
          <a:prstGeom prst="roundRect">
            <a:avLst>
              <a:gd name="adj" fmla="val 14118"/>
            </a:avLst>
          </a:prstGeom>
          <a:solidFill>
            <a:srgbClr val="F0F4FF"/>
          </a:solidFill>
          <a:ln/>
        </p:spPr>
      </p:sp>
      <p:sp>
        <p:nvSpPr>
          <p:cNvPr id="36" name="Text 30"/>
          <p:cNvSpPr/>
          <p:nvPr/>
        </p:nvSpPr>
        <p:spPr>
          <a:xfrm>
            <a:off x="3932535" y="7532688"/>
            <a:ext cx="127664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law_name</a:t>
            </a:r>
            <a:endParaRPr lang="en-US" sz="1875" dirty="0"/>
          </a:p>
        </p:txBody>
      </p:sp>
      <p:sp>
        <p:nvSpPr>
          <p:cNvPr id="37" name="Shape 31"/>
          <p:cNvSpPr/>
          <p:nvPr/>
        </p:nvSpPr>
        <p:spPr>
          <a:xfrm>
            <a:off x="5418733" y="7437438"/>
            <a:ext cx="2311202" cy="539750"/>
          </a:xfrm>
          <a:prstGeom prst="roundRect">
            <a:avLst>
              <a:gd name="adj" fmla="val 14118"/>
            </a:avLst>
          </a:prstGeom>
          <a:solidFill>
            <a:srgbClr val="F0F4FF"/>
          </a:solidFill>
          <a:ln/>
        </p:spPr>
      </p:sp>
      <p:sp>
        <p:nvSpPr>
          <p:cNvPr id="38" name="Text 32"/>
          <p:cNvSpPr/>
          <p:nvPr/>
        </p:nvSpPr>
        <p:spPr>
          <a:xfrm>
            <a:off x="5590183" y="7532688"/>
            <a:ext cx="204450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clause_summary</a:t>
            </a:r>
            <a:endParaRPr lang="en-US" sz="1875" dirty="0"/>
          </a:p>
        </p:txBody>
      </p:sp>
      <p:sp>
        <p:nvSpPr>
          <p:cNvPr id="39" name="Shape 33"/>
          <p:cNvSpPr/>
          <p:nvPr/>
        </p:nvSpPr>
        <p:spPr>
          <a:xfrm>
            <a:off x="1263650" y="8091488"/>
            <a:ext cx="2164457" cy="539750"/>
          </a:xfrm>
          <a:prstGeom prst="roundRect">
            <a:avLst>
              <a:gd name="adj" fmla="val 14118"/>
            </a:avLst>
          </a:prstGeom>
          <a:solidFill>
            <a:srgbClr val="F0F4FF"/>
          </a:solidFill>
          <a:ln/>
        </p:spPr>
      </p:sp>
      <p:sp>
        <p:nvSpPr>
          <p:cNvPr id="40" name="Text 34"/>
          <p:cNvSpPr/>
          <p:nvPr/>
        </p:nvSpPr>
        <p:spPr>
          <a:xfrm>
            <a:off x="1435100" y="8186738"/>
            <a:ext cx="189775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refund_formula</a:t>
            </a:r>
            <a:endParaRPr lang="en-US" sz="1875" dirty="0"/>
          </a:p>
        </p:txBody>
      </p:sp>
      <p:sp>
        <p:nvSpPr>
          <p:cNvPr id="41" name="Shape 35"/>
          <p:cNvSpPr/>
          <p:nvPr/>
        </p:nvSpPr>
        <p:spPr>
          <a:xfrm>
            <a:off x="3542407" y="8091488"/>
            <a:ext cx="1454646" cy="539750"/>
          </a:xfrm>
          <a:prstGeom prst="roundRect">
            <a:avLst>
              <a:gd name="adj" fmla="val 14118"/>
            </a:avLst>
          </a:prstGeom>
          <a:solidFill>
            <a:srgbClr val="F0F4FF"/>
          </a:solidFill>
          <a:ln/>
        </p:spPr>
      </p:sp>
      <p:sp>
        <p:nvSpPr>
          <p:cNvPr id="42" name="Text 36"/>
          <p:cNvSpPr/>
          <p:nvPr/>
        </p:nvSpPr>
        <p:spPr>
          <a:xfrm>
            <a:off x="3713857" y="8186738"/>
            <a:ext cx="118794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keywords</a:t>
            </a:r>
            <a:endParaRPr lang="en-US" sz="1875" dirty="0"/>
          </a:p>
        </p:txBody>
      </p:sp>
      <p:sp>
        <p:nvSpPr>
          <p:cNvPr id="43" name="Text 37"/>
          <p:cNvSpPr/>
          <p:nvPr/>
        </p:nvSpPr>
        <p:spPr>
          <a:xfrm>
            <a:off x="1263650" y="8840788"/>
            <a:ext cx="83623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중도해지 · 청약철회 · 불가항력 · 폐업 등 주요 시나리오를 업종별로 분할해 담았다.</a:t>
            </a:r>
            <a:endParaRPr lang="en-US" sz="1950" dirty="0"/>
          </a:p>
        </p:txBody>
      </p:sp>
      <p:sp>
        <p:nvSpPr>
          <p:cNvPr id="44" name="Shape 38"/>
          <p:cNvSpPr/>
          <p:nvPr/>
        </p:nvSpPr>
        <p:spPr>
          <a:xfrm>
            <a:off x="9960273" y="6484938"/>
            <a:ext cx="7375228" cy="3429000"/>
          </a:xfrm>
          <a:prstGeom prst="roundRect">
            <a:avLst>
              <a:gd name="adj" fmla="val 4444"/>
            </a:avLst>
          </a:prstGeom>
          <a:solidFill>
            <a:srgbClr val="F7F8FB"/>
          </a:solidFill>
          <a:ln/>
        </p:spPr>
      </p:sp>
      <p:sp>
        <p:nvSpPr>
          <p:cNvPr id="45" name="Text 39"/>
          <p:cNvSpPr/>
          <p:nvPr/>
        </p:nvSpPr>
        <p:spPr>
          <a:xfrm>
            <a:off x="10265073" y="6808788"/>
            <a:ext cx="744219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Hallucination 방지</a:t>
            </a:r>
            <a:endParaRPr lang="en-US" sz="2250" dirty="0"/>
          </a:p>
        </p:txBody>
      </p:sp>
      <p:sp>
        <p:nvSpPr>
          <p:cNvPr id="46" name="Text 40"/>
          <p:cNvSpPr/>
          <p:nvPr/>
        </p:nvSpPr>
        <p:spPr>
          <a:xfrm>
            <a:off x="10265073" y="7412038"/>
            <a:ext cx="69685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"제공된 조항만 인용하고 법령을 만들어내지 말 것"이라는 강한 제약 아래 referenced_clauses를 채운다.</a:t>
            </a:r>
            <a:endParaRPr lang="en-US" sz="1950" dirty="0"/>
          </a:p>
        </p:txBody>
      </p:sp>
      <p:sp>
        <p:nvSpPr>
          <p:cNvPr id="47" name="Text 41"/>
          <p:cNvSpPr/>
          <p:nvPr/>
        </p:nvSpPr>
        <p:spPr>
          <a:xfrm>
            <a:off x="10265073" y="8345488"/>
            <a:ext cx="69685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지식베이스 미빌드 · API 키 없음 · 임베딩 실패 시 정적 legalKnowledge 기반으로 무중단 폴백.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71749" y="587375"/>
            <a:ext cx="14585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재산정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법령 근거 기반 Rerank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산정한 법령 기반 성공률이 ML 값보다 10%p 이상 높을 때만 최종값을 대체하는 상향 전용 보정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92500"/>
            <a:ext cx="4155083" cy="1939131"/>
          </a:xfrm>
          <a:prstGeom prst="roundRect">
            <a:avLst>
              <a:gd name="adj" fmla="val 7859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6500" y="3765550"/>
            <a:ext cx="401179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SIMILARITY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6500" y="4191000"/>
            <a:ext cx="4011791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62.0%</a:t>
            </a:r>
            <a:endParaRPr lang="en-US" sz="3450" dirty="0"/>
          </a:p>
        </p:txBody>
      </p:sp>
      <p:sp>
        <p:nvSpPr>
          <p:cNvPr id="13" name="Text 10"/>
          <p:cNvSpPr/>
          <p:nvPr/>
        </p:nvSpPr>
        <p:spPr>
          <a:xfrm>
            <a:off x="1206500" y="4813300"/>
            <a:ext cx="401179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864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유사사례 기반 통계 추론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5298083" y="3492500"/>
            <a:ext cx="4155182" cy="1939131"/>
          </a:xfrm>
          <a:prstGeom prst="roundRect">
            <a:avLst>
              <a:gd name="adj" fmla="val 7859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2083" y="3765550"/>
            <a:ext cx="40119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LEGAL REASONING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552083" y="4191000"/>
            <a:ext cx="4011900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85.0%</a:t>
            </a:r>
            <a:endParaRPr lang="en-US" sz="3450" dirty="0"/>
          </a:p>
        </p:txBody>
      </p:sp>
      <p:sp>
        <p:nvSpPr>
          <p:cNvPr id="17" name="Text 14"/>
          <p:cNvSpPr/>
          <p:nvPr/>
        </p:nvSpPr>
        <p:spPr>
          <a:xfrm>
            <a:off x="5552083" y="4813300"/>
            <a:ext cx="401190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864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조항 + 본인 상황 사실 기반 산정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952500" y="5660231"/>
            <a:ext cx="8500765" cy="2206625"/>
          </a:xfrm>
          <a:prstGeom prst="roundRect">
            <a:avLst>
              <a:gd name="adj" fmla="val 6906"/>
            </a:avLst>
          </a:prstGeom>
          <a:solidFill>
            <a:srgbClr val="F0F4FF"/>
          </a:solidFill>
          <a:ln/>
        </p:spPr>
      </p:sp>
      <p:sp>
        <p:nvSpPr>
          <p:cNvPr id="19" name="Text 16"/>
          <p:cNvSpPr/>
          <p:nvPr/>
        </p:nvSpPr>
        <p:spPr>
          <a:xfrm>
            <a:off x="1219200" y="5945981"/>
            <a:ext cx="8764101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MIN_LEGAL_OVERRIDE_MARGIN = 10%p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219200" y="6466681"/>
            <a:ext cx="820638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차이가 마진 이상이면 success_rate_basis를 legal_reasoning으로 바꾸고 UI에 "법령 근거 기반 추정" 배지를 표시한다. 낮게 나와도 하향 조정은 하지 않는다.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952500" y="8095456"/>
            <a:ext cx="8500765" cy="2206625"/>
          </a:xfrm>
          <a:prstGeom prst="roundRect">
            <a:avLst>
              <a:gd name="adj" fmla="val 6906"/>
            </a:avLst>
          </a:prstGeom>
          <a:solidFill>
            <a:srgbClr val="F7F8FB"/>
          </a:solidFill>
          <a:ln/>
        </p:spPr>
      </p:sp>
      <p:sp>
        <p:nvSpPr>
          <p:cNvPr id="22" name="Text 19"/>
          <p:cNvSpPr/>
          <p:nvPr/>
        </p:nvSpPr>
        <p:spPr>
          <a:xfrm>
            <a:off x="1219200" y="8381206"/>
            <a:ext cx="8764101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불연속 제거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219200" y="8901907"/>
            <a:ext cx="820638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구현은 "ML 값 &lt; 50%일 때만 재산정"이라는 고정 임계값을 써서 49.9%와 50.4% 사안의 결과가 완전히 달라졌다. 현재는 항상 법령 판단을 시도하고 마진 규칙으로 한 방향만 반영한다.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9758065" y="3492500"/>
            <a:ext cx="7577435" cy="6809581"/>
          </a:xfrm>
          <a:prstGeom prst="roundRect">
            <a:avLst>
              <a:gd name="adj" fmla="val 2238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69216" y="3822700"/>
            <a:ext cx="765064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확정 기준 3가지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10069216" y="44640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1D3A8F"/>
          </a:solidFill>
          <a:ln/>
        </p:spPr>
      </p:sp>
      <p:sp>
        <p:nvSpPr>
          <p:cNvPr id="27" name="Text 24"/>
          <p:cNvSpPr/>
          <p:nvPr/>
        </p:nvSpPr>
        <p:spPr>
          <a:xfrm>
            <a:off x="10031116" y="44640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545466" y="4464050"/>
            <a:ext cx="667325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입력을 "본인 상황에 대한 사실"과 "사용자가 주장하는 법령 내용"으로 분리 — 후자는 조항 원문이 뒷받침할 때만 사실로 인정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069216" y="58070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1D3A8F"/>
          </a:solidFill>
          <a:ln/>
        </p:spPr>
      </p:sp>
      <p:sp>
        <p:nvSpPr>
          <p:cNvPr id="30" name="Text 27"/>
          <p:cNvSpPr/>
          <p:nvPr/>
        </p:nvSpPr>
        <p:spPr>
          <a:xfrm>
            <a:off x="10031116" y="58070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545466" y="5807075"/>
            <a:ext cx="667325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성공률은 "위약금율"이 아니라 "소비자 주장이 받아들여질 확률"임을 명시 — 미명시 시 조항 속 10% 같은 숫자를 그대로 넣는 오류 발생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0069216" y="71501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1D3A8F"/>
          </a:solidFill>
          <a:ln/>
        </p:spPr>
      </p:sp>
      <p:sp>
        <p:nvSpPr>
          <p:cNvPr id="33" name="Text 30"/>
          <p:cNvSpPr/>
          <p:nvPr/>
        </p:nvSpPr>
        <p:spPr>
          <a:xfrm>
            <a:off x="10031116" y="71501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545466" y="7150100"/>
            <a:ext cx="667325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temperature 0.4 → 0.2로 하향, 동일 입력 5회 연속 동일 결과 확인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92437" y="587375"/>
            <a:ext cx="98147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평가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평가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분류기는 지표로, 에이전트는 재현성과 폴백 동작으로 나눠 검증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92500"/>
            <a:ext cx="3895725" cy="2786063"/>
          </a:xfrm>
          <a:prstGeom prst="roundRect">
            <a:avLst>
              <a:gd name="adj" fmla="val 5470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4600" y="3822700"/>
            <a:ext cx="364267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평가 지표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244600" y="4311650"/>
            <a:ext cx="3642678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 · F1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44600" y="4876800"/>
            <a:ext cx="341087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14클래스 다중분류를 클래스 불균형까지 함께 보기 위해 F1을 병기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5114925" y="3492500"/>
            <a:ext cx="3895725" cy="2786063"/>
          </a:xfrm>
          <a:prstGeom prst="roundRect">
            <a:avLst>
              <a:gd name="adj" fmla="val 5470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7025" y="3822700"/>
            <a:ext cx="364267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신뢰도 임계값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407025" y="4311650"/>
            <a:ext cx="3642678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35%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5407025" y="4876800"/>
            <a:ext cx="341087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 시 군집 확장 검색으로 전환하는 운영 기준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9277350" y="3492500"/>
            <a:ext cx="3895725" cy="2786063"/>
          </a:xfrm>
          <a:prstGeom prst="roundRect">
            <a:avLst>
              <a:gd name="adj" fmla="val 5470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69450" y="3822700"/>
            <a:ext cx="364267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재현성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9569450" y="4311650"/>
            <a:ext cx="3642678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5회 / 5회</a:t>
            </a:r>
            <a:endParaRPr lang="en-US" sz="2850" dirty="0"/>
          </a:p>
        </p:txBody>
      </p:sp>
      <p:sp>
        <p:nvSpPr>
          <p:cNvPr id="21" name="Text 18"/>
          <p:cNvSpPr/>
          <p:nvPr/>
        </p:nvSpPr>
        <p:spPr>
          <a:xfrm>
            <a:off x="9569450" y="4876800"/>
            <a:ext cx="341087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temperature 0.2에서 동일 입력 연속 5회 동일 결과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3439775" y="3492500"/>
            <a:ext cx="3895725" cy="2786063"/>
          </a:xfrm>
          <a:prstGeom prst="roundRect">
            <a:avLst>
              <a:gd name="adj" fmla="val 5470"/>
            </a:avLst>
          </a:prstGeom>
          <a:ln w="6350">
            <a:solidFill>
              <a:srgbClr val="E6E9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731876" y="3822700"/>
            <a:ext cx="364267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응답 최적화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3731876" y="4311650"/>
            <a:ext cx="3642678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joblib 캐싱</a:t>
            </a:r>
            <a:endParaRPr lang="en-US" sz="2850" dirty="0"/>
          </a:p>
        </p:txBody>
      </p:sp>
      <p:sp>
        <p:nvSpPr>
          <p:cNvPr id="25" name="Text 22"/>
          <p:cNvSpPr/>
          <p:nvPr/>
        </p:nvSpPr>
        <p:spPr>
          <a:xfrm>
            <a:off x="13731876" y="4876800"/>
            <a:ext cx="341087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벡터라이저 · 모델을 캐시해 서버리스 콜드스타트 부담 완화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952500" y="6659563"/>
            <a:ext cx="8058150" cy="2941638"/>
          </a:xfrm>
          <a:prstGeom prst="roundRect">
            <a:avLst>
              <a:gd name="adj" fmla="val 5181"/>
            </a:avLst>
          </a:prstGeom>
          <a:solidFill>
            <a:srgbClr val="F7F8FB"/>
          </a:solidFill>
          <a:ln/>
        </p:spPr>
      </p:sp>
      <p:sp>
        <p:nvSpPr>
          <p:cNvPr id="27" name="Text 24"/>
          <p:cNvSpPr/>
          <p:nvPr/>
        </p:nvSpPr>
        <p:spPr>
          <a:xfrm>
            <a:off x="1257300" y="6983413"/>
            <a:ext cx="819340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평가에서 확인한 것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257300" y="7567612"/>
            <a:ext cx="767200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표본이 4건뿐인 체육시설 카테고리는 실데이터만으로 학습이 성립하지 않아, 수작성 사례 94건 보강 후 분류가 안정화되었다.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257300" y="8482013"/>
            <a:ext cx="767200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confidence가 낮은 사안에서는 군집 확장이 무관한 카테고리를 끌어와 dispute_type이 흔들리는 현상을 개발 중 실제로 관측했다.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9277350" y="6659563"/>
            <a:ext cx="8058150" cy="2941638"/>
          </a:xfrm>
          <a:prstGeom prst="roundRect">
            <a:avLst>
              <a:gd name="adj" fmla="val 5181"/>
            </a:avLst>
          </a:prstGeom>
          <a:solidFill>
            <a:srgbClr val="F7F8FB"/>
          </a:solidFill>
          <a:ln/>
        </p:spPr>
      </p:sp>
      <p:sp>
        <p:nvSpPr>
          <p:cNvPr id="31" name="Text 28"/>
          <p:cNvSpPr/>
          <p:nvPr/>
        </p:nvSpPr>
        <p:spPr>
          <a:xfrm>
            <a:off x="9582150" y="6983413"/>
            <a:ext cx="819340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평가에서 확인한 것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9582150" y="7567612"/>
            <a:ext cx="767200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조항을 주입하면 인용 법령의 정확도가 올라가지만, 조항이 여러 개일 때 더 일반적인 조항을 인용하는 편향은 프롬프트만으로 완전히 해소되지 않았다.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9582150" y="8853488"/>
            <a:ext cx="81934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키 없이도 규칙 기반 폴백으로 리포트가 생성되는지 함께 검증했다.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92437" y="587375"/>
            <a:ext cx="98147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기술 요약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· 모델 · 에이전트 · 배포 전 구간을 서버리스 한 벌로 운영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52500" y="3454400"/>
            <a:ext cx="16383000" cy="19050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3721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038600" y="3721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14 (App Router) · React · TypeScript · Tailwind CSS · Recharts · Framer Motion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52500" y="4356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4610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API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038600" y="4610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Route Handlers (Node.js runtime)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52500" y="5245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5499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파이프라인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038600" y="5499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· Pandas · NumPy · Scikit-learn (TF-IDF, Logistic Regression, KMeans) · SciPy · joblib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52500" y="6134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0" name="Text 17"/>
          <p:cNvSpPr/>
          <p:nvPr/>
        </p:nvSpPr>
        <p:spPr>
          <a:xfrm>
            <a:off x="952500" y="6388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검색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038600" y="6388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text-embedding-3-small · 로컬 JSON + 코사인 유사도(브루트포스)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952500" y="7023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3" name="Text 20"/>
          <p:cNvSpPr/>
          <p:nvPr/>
        </p:nvSpPr>
        <p:spPr>
          <a:xfrm>
            <a:off x="952500" y="7277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Agent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038600" y="7277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gpt-4o-mini · Structured JSON Output · temperature 0.2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952500" y="7912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6" name="Text 23"/>
          <p:cNvSpPr/>
          <p:nvPr/>
        </p:nvSpPr>
        <p:spPr>
          <a:xfrm>
            <a:off x="952500" y="8166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· 자동화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4038600" y="8166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(Next.js + Python 서버리스 함수 동시 배포) · 커밋 해시 기반 자동 버전 감지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500" y="9690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9" name="Shape 26"/>
          <p:cNvSpPr/>
          <p:nvPr/>
        </p:nvSpPr>
        <p:spPr>
          <a:xfrm>
            <a:off x="952500" y="880110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0" name="Text 27"/>
          <p:cNvSpPr/>
          <p:nvPr/>
        </p:nvSpPr>
        <p:spPr>
          <a:xfrm>
            <a:off x="952500" y="9055100"/>
            <a:ext cx="31432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4038600" y="9055100"/>
            <a:ext cx="14626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36"/>
              </a:lnSpc>
              <a:buNone/>
            </a:pPr>
            <a:r>
              <a:rPr lang="en-US" sz="2100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공정거래위원회 소비자 민원학습데이터 · 한국소비자원 소비자분쟁해결기준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012566" y="587375"/>
            <a:ext cx="196365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· 사용자 입력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625600"/>
            <a:ext cx="7619216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① 사용자 입력 페이지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52500" y="2432050"/>
            <a:ext cx="713435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 작성이 아니라 "있었던 일을 그대로 쓰기"에 가깝게 설계했다.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52500" y="36322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D3A8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322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6850" y="3632200"/>
            <a:ext cx="6604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66"/>
              </a:lnSpc>
              <a:buNone/>
            </a:pP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테스트 칩(헬스장 중도 환불 · 인터넷 해지 위약금 · 의류 배송 지연)으로 예시 입력을 한 번에 채운다.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952500" y="46132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D3A8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61327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66850" y="4613275"/>
            <a:ext cx="6604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66"/>
              </a:lnSpc>
              <a:buNone/>
            </a:pP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입력은 자유 서술문 하나. 피해 금액과 결제·계약 일자는 환급액 산정용 보조 입력이다.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952500" y="55943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D3A8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5943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66850" y="5594350"/>
            <a:ext cx="6604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66"/>
              </a:lnSpc>
              <a:buNone/>
            </a:pP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 카테고리는 기본값 "자동 감지" — 분류는 모델이 수행한다.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952500" y="9229725"/>
            <a:ext cx="713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상단에 공공데이터 출처와 배포 버전(커밋 해시)을 상시 노출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8336260" y="1625600"/>
            <a:ext cx="8999240" cy="7975600"/>
          </a:xfrm>
          <a:prstGeom prst="roundRect">
            <a:avLst>
              <a:gd name="adj" fmla="val 2389"/>
            </a:avLst>
          </a:prstGeom>
          <a:solidFill>
            <a:srgbClr val="F7F8FB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rcRect t="-21037" b="-21037"/>
          <a:stretch/>
        </p:blipFill>
        <p:spPr>
          <a:xfrm>
            <a:off x="8602960" y="1892300"/>
            <a:ext cx="8465840" cy="744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22810" y="587375"/>
            <a:ext cx="173238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· 분석 결과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587500"/>
            <a:ext cx="1802130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② 분석 결과 페이지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52500" y="2374900"/>
            <a:ext cx="18021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헬스장 중도 해지 사안 — 법령 근거 기반 추정 85.0%, 예상 환급 약 1,020,000원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52500" y="3108325"/>
            <a:ext cx="9852621" cy="6492875"/>
          </a:xfrm>
          <a:prstGeom prst="roundRect">
            <a:avLst>
              <a:gd name="adj" fmla="val 2934"/>
            </a:avLst>
          </a:prstGeom>
          <a:solidFill>
            <a:srgbClr val="F7F8FB"/>
          </a:solidFill>
          <a:ln/>
        </p:spPr>
      </p:sp>
      <p:pic>
        <p:nvPicPr>
          <p:cNvPr id="11" name="Image 1"/>
          <p:cNvPicPr>
            <a:picLocks noChangeAspect="1"/>
          </p:cNvPicPr>
          <p:nvPr/>
        </p:nvPicPr>
        <p:blipFill>
          <a:blip r:embed="rId5"/>
          <a:srcRect l="3049" r="3049"/>
          <a:stretch/>
        </p:blipFill>
        <p:spPr>
          <a:xfrm>
            <a:off x="1181100" y="3336925"/>
            <a:ext cx="9395421" cy="60356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071821" y="3108325"/>
            <a:ext cx="6263680" cy="4454525"/>
          </a:xfrm>
          <a:prstGeom prst="roundRect">
            <a:avLst>
              <a:gd name="adj" fmla="val 4277"/>
            </a:avLst>
          </a:prstGeom>
          <a:solidFill>
            <a:srgbClr val="F7F8FB"/>
          </a:solidFill>
          <a:ln/>
        </p:spPr>
      </p:sp>
      <p:sp>
        <p:nvSpPr>
          <p:cNvPr id="14" name="Text 9"/>
          <p:cNvSpPr/>
          <p:nvPr/>
        </p:nvSpPr>
        <p:spPr>
          <a:xfrm>
            <a:off x="11071821" y="7791450"/>
            <a:ext cx="64515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66"/>
              </a:lnSpc>
              <a:buNone/>
            </a:pP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게이지 하단 "법령 근거 기반 추정" 배지로 수치의 </a:t>
            </a:r>
            <a:r>
              <a:rPr lang="en-US" sz="2025" dirty="0" err="1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출처를</a:t>
            </a: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02966"/>
              </a:lnSpc>
              <a:buNone/>
            </a:pPr>
            <a:r>
              <a:rPr lang="en-US" sz="2025" dirty="0" err="1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</a:t>
            </a:r>
            <a:endParaRPr lang="en-US" sz="2025" dirty="0"/>
          </a:p>
        </p:txBody>
      </p:sp>
      <p:sp>
        <p:nvSpPr>
          <p:cNvPr id="15" name="Text 10"/>
          <p:cNvSpPr/>
          <p:nvPr/>
        </p:nvSpPr>
        <p:spPr>
          <a:xfrm>
            <a:off x="11071821" y="8696325"/>
            <a:ext cx="68900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66"/>
              </a:lnSpc>
              <a:buNone/>
            </a:pP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조항은 원문 요약과 산정식을 함께 펼쳐 확인 가능</a:t>
            </a:r>
            <a:endParaRPr lang="en-US" sz="2025" dirty="0"/>
          </a:p>
        </p:txBody>
      </p:sp>
      <p:sp>
        <p:nvSpPr>
          <p:cNvPr id="16" name="Text 11"/>
          <p:cNvSpPr/>
          <p:nvPr/>
        </p:nvSpPr>
        <p:spPr>
          <a:xfrm>
            <a:off x="11071821" y="9215438"/>
            <a:ext cx="68900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66"/>
              </a:lnSpc>
              <a:buNone/>
            </a:pPr>
            <a:r>
              <a:rPr lang="en-US" sz="2025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내용증명 초안은 모달에서 클립보드 복사로 바로 사용</a:t>
            </a:r>
            <a:endParaRPr lang="en-US" sz="2025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2DC8E0-0D7A-13BB-C8D5-17EEB1C256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1821" y="3336925"/>
            <a:ext cx="5959356" cy="4225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D3A8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587375"/>
            <a:ext cx="36074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ClaimMate 프로젝트 완료 보고서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33154" y="587375"/>
            <a:ext cx="150101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· 느낀 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69159" y="587375"/>
            <a:ext cx="8329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15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97350" y="533400"/>
            <a:ext cx="438150" cy="43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17018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101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알려진 한계와 느낀 점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952500" y="2578100"/>
            <a:ext cx="158496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dirty="0">
                <a:solidFill>
                  <a:srgbClr val="5C66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기록된 한계는 모두 재현 경로와 개선 방향까지 함께 남겼다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952500" y="3439881"/>
            <a:ext cx="5283200" cy="5181606"/>
          </a:xfrm>
          <a:prstGeom prst="roundRect">
            <a:avLst>
              <a:gd name="adj" fmla="val 6601"/>
            </a:avLst>
          </a:prstGeom>
          <a:solidFill>
            <a:srgbClr val="F7F8FB"/>
          </a:solidFill>
          <a:ln/>
        </p:spPr>
      </p:sp>
      <p:sp>
        <p:nvSpPr>
          <p:cNvPr id="26" name="Text 23"/>
          <p:cNvSpPr/>
          <p:nvPr/>
        </p:nvSpPr>
        <p:spPr>
          <a:xfrm>
            <a:off x="1276350" y="3601577"/>
            <a:ext cx="50990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3A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박홍민 · Fullstack/PM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276350" y="4177610"/>
            <a:ext cx="4959350" cy="3834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sz="2000" b="1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프론트엔드</a:t>
            </a:r>
            <a:r>
              <a:rPr lang="en-US" altLang="ko-KR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(Next.js)</a:t>
            </a:r>
            <a:r>
              <a:rPr lang="ko-KR" altLang="en-US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ML </a:t>
            </a:r>
            <a:r>
              <a:rPr lang="ko-KR" altLang="en-US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서버리스</a:t>
            </a:r>
            <a:r>
              <a:rPr lang="en-US" altLang="ko-KR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(Python)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충돌 없는 연동을 위해 세밀한 라우팅 경로 설계가 필수적이었습니다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>
              <a:lnSpc>
                <a:spcPct val="160000"/>
              </a:lnSpc>
            </a:pPr>
            <a:b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매 배포 단계마다 즉시 테스트하고 검증하는 루틴을 유지하여 개발 일정을 성공적으로 준수했습니다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." </a:t>
            </a:r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502400" y="3439881"/>
            <a:ext cx="5283200" cy="5181605"/>
          </a:xfrm>
          <a:prstGeom prst="roundRect">
            <a:avLst>
              <a:gd name="adj" fmla="val 6601"/>
            </a:avLst>
          </a:prstGeom>
          <a:solidFill>
            <a:srgbClr val="F7F8FB"/>
          </a:solidFill>
          <a:ln/>
        </p:spPr>
      </p:sp>
      <p:sp>
        <p:nvSpPr>
          <p:cNvPr id="29" name="Text 26"/>
          <p:cNvSpPr/>
          <p:nvPr/>
        </p:nvSpPr>
        <p:spPr>
          <a:xfrm>
            <a:off x="6826250" y="3601577"/>
            <a:ext cx="50990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9D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정윤용 · MLOps/Data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6826250" y="4177610"/>
            <a:ext cx="4774565" cy="3964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일부 카테고리의 표본 부족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(4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환불 예측 수치가 부정확했던 문제를 </a:t>
            </a:r>
            <a:r>
              <a:rPr lang="en-US" altLang="ko-KR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RAG </a:t>
            </a:r>
            <a:r>
              <a:rPr lang="ko-KR" altLang="en-US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법률 검색과 </a:t>
            </a:r>
            <a:r>
              <a:rPr lang="en-US" altLang="ko-KR" sz="2000" b="1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ReRank</a:t>
            </a:r>
            <a:r>
              <a:rPr lang="en-US" altLang="ko-KR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재순위화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파이프라인으로 돌파했습니다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 난이도가 높아 쉽지 않은 과정이었지만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정교한 데이터 전처리와 검색 설계가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신뢰성을 완성한다는 것을 깊이 체감했습니다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." </a:t>
            </a:r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2052300" y="3439882"/>
            <a:ext cx="5283200" cy="5181604"/>
          </a:xfrm>
          <a:prstGeom prst="roundRect">
            <a:avLst>
              <a:gd name="adj" fmla="val 6601"/>
            </a:avLst>
          </a:prstGeom>
          <a:solidFill>
            <a:srgbClr val="F7F8FB"/>
          </a:solidFill>
          <a:ln/>
        </p:spPr>
      </p:sp>
      <p:sp>
        <p:nvSpPr>
          <p:cNvPr id="32" name="Text 29"/>
          <p:cNvSpPr/>
          <p:nvPr/>
        </p:nvSpPr>
        <p:spPr>
          <a:xfrm>
            <a:off x="12376150" y="3601577"/>
            <a:ext cx="50990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D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김수현 · AI Agent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2376150" y="4177610"/>
            <a:ext cx="4774565" cy="3964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"LLM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사전 학습된 기억에만 의존해 자의적인 환급 확률을 생성하거나 환각을 일으키지 않도록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RAG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검색된 실제 고시 법령만을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절대적 사실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(Ground Truth)'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삼게 하는 </a:t>
            </a:r>
            <a:r>
              <a:rPr lang="ko-KR" altLang="en-US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프롬프트 설계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핵심</a:t>
            </a:r>
            <a:r>
              <a:rPr lang="ko-KR" altLang="en-US" sz="2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과제였습니다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b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판단 기준과 규칙을 어떻게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정의하느냐에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따라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응답의 일관성과 신뢰성이 완전히 달라진다는 것을 배웠습니다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." 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52500" y="8854842"/>
            <a:ext cx="16383000" cy="9525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5" name="Text 32"/>
          <p:cNvSpPr/>
          <p:nvPr/>
        </p:nvSpPr>
        <p:spPr>
          <a:xfrm>
            <a:off x="952500" y="9244013"/>
            <a:ext cx="1687449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75" dirty="0">
                <a:solidFill>
                  <a:srgbClr val="8F9A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서비스의 분석 결과는 참고용 정보이며 법적 효력을 갖지 않는다. 실제 대응 전 1372 소비자상담센터 또는 법률 전문가의 확인이 필요하다.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2251</Words>
  <Application>Microsoft Office PowerPoint</Application>
  <PresentationFormat>사용자 지정</PresentationFormat>
  <Paragraphs>345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홍민 박</cp:lastModifiedBy>
  <cp:revision>3</cp:revision>
  <dcterms:created xsi:type="dcterms:W3CDTF">2026-08-25T07:19:08Z</dcterms:created>
  <dcterms:modified xsi:type="dcterms:W3CDTF">2026-08-26T01:07:22Z</dcterms:modified>
</cp:coreProperties>
</file>